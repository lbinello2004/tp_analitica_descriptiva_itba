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mapa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6310881" cy="5806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2683C"/>
                </a:solidFill>
                <a:latin typeface="Calibri"/>
              </a:rPr>
              <a:t>ANÁLISIS DE OPORTUNIDADES INMOBILIARIAS · CABA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53035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C7D2DD"/>
                </a:solidFill>
                <a:latin typeface="Calibri"/>
              </a:rPr>
              <a:t>ITBA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86968"/>
            <a:ext cx="1065276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5852160" cy="2331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Priorización de
oportunidades de
flip inmobiliario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51960"/>
            <a:ext cx="5303520" cy="8686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7D2DD"/>
                </a:solidFill>
                <a:latin typeface="Calibri"/>
              </a:rPr>
              <a:t>Una herramienta para decidir dónde buscar, qué propiedades investigar y qué validar antes de invertir.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440680"/>
            <a:ext cx="2743200" cy="12801"/>
          </a:xfrm>
          <a:prstGeom prst="rect">
            <a:avLst/>
          </a:prstGeom>
          <a:solidFill>
            <a:srgbClr val="C2683C"/>
          </a:solidFill>
          <a:ln>
            <a:solidFill>
              <a:srgbClr val="C26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Felipe Tamaki · 66477   |   Matías Goldschmidt · 66061   |   Lucas Binelo · 66011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C7D2DD"/>
                </a:solidFill>
                <a:latin typeface="Calibri"/>
              </a:rPr>
              <a:t>Analítica Descriptiva · Presentación ejecutiva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CONTEXTO Y OPORTUNIDAD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Miles de avisos, pero poca evidencia para decidir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F1B2D"/>
                </a:solidFill>
                <a:latin typeface="Georgia"/>
              </a:rPr>
              <a:t>El desafío no es encontrar avisos, sino compararlos antes de comprometer capital.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44368"/>
            <a:ext cx="5623560" cy="1600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La información es heterogénea y las señales sobre precio, estado y entorno están dispersas. Sin un proceso analítico, la selección depende demasiado de intuición y tiempo de búsqueda.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737360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0F1B2D"/>
                </a:solidFill>
                <a:latin typeface="Georgia"/>
              </a:rPr>
              <a:t>12.518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6096" y="23957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avisos relevados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944368"/>
            <a:ext cx="397763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3090672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0F1B2D"/>
                </a:solidFill>
                <a:latin typeface="Georgia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096" y="37490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barrios con dinámicas distintas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297679"/>
            <a:ext cx="397763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443983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0F1B2D"/>
                </a:solidFill>
                <a:latin typeface="Georgia"/>
              </a:rPr>
              <a:t>USD 100k+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5102351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capital típico comprometido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42631" y="1783080"/>
            <a:ext cx="18288" cy="3886200"/>
          </a:xfrm>
          <a:prstGeom prst="rect">
            <a:avLst/>
          </a:prstGeom>
          <a:solidFill>
            <a:srgbClr val="C2683C"/>
          </a:solidFill>
          <a:ln>
            <a:solidFill>
              <a:srgbClr val="C26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MODELO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03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El resultado de un flip se define antes de empezar la obra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591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Comprar bien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Entrar por debajo de propiedades comparables.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154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82880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3591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Mejorar con criterio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2926080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3136392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Invertir solo en cambios que el mercado del barrio valore.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1" y="3154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182880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3591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Revender con margen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3" y="2926080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3136392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Salir en un mercado con demanda y referencias suficientes.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90288"/>
            <a:ext cx="10911535" cy="98755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Margen potencial  =  venta esperada  −  compra negociada  −  obra  −  gastos  −  tiempo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7044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7A7A7A"/>
                </a:solidFill>
                <a:latin typeface="Calibri"/>
              </a:rPr>
              <a:t>Nuestro análisis mejora la selección de compra. Todavía no calcula rentabilidad porque faltan precios de cierre y costos reales.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DATOS UTILIZADOS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04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Integramos publicaciones con información territorial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ARGENPROP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16352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992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A3A3A"/>
                </a:solidFill>
                <a:latin typeface="Georgia"/>
              </a:rPr>
              <a:t>Publicaciones de departamentos en venta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Precio, superficie, ambientes, estado y amenities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30632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828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GCBA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2816352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9992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A3A3A"/>
                </a:solidFill>
                <a:latin typeface="Georgia"/>
              </a:rPr>
              <a:t>Datos abiertos de la Ciudad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88620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Barrios, comunas, subte, hospitales y contexto urbano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30632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1828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OPENSTREETMAP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2816352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9992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A3A3A"/>
                </a:solidFill>
                <a:latin typeface="Georgia"/>
              </a:rPr>
              <a:t>Servicios y geocodificación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388620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Colegios, supermercados, avenidas y transporte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57800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0F1B2D"/>
                </a:solidFill>
                <a:latin typeface="Georgia"/>
              </a:rPr>
              <a:t>Cada fila representa una publicación. El análisis trabaja con precios publicados, no con precios efectivos de cierre.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QUÉ BUSCAMOS 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05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Cuatro señales para decidir qué avisos merecen una revisión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B2D"/>
                </a:solidFill>
                <a:latin typeface="Georgia"/>
              </a:rPr>
              <a:t>Precio de entrada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44368"/>
            <a:ext cx="2487168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82112"/>
            <a:ext cx="2487168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¿Publica por debajo de inmuebles del mismo barrio, tipo y ambientes?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377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B2D"/>
                </a:solidFill>
                <a:latin typeface="Georgia"/>
              </a:rPr>
              <a:t>Margen de mejora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2944368"/>
            <a:ext cx="2487168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3182112"/>
            <a:ext cx="2487168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¿El estado permite una puesta en valor sin ocultar un problema estructural?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2377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B2D"/>
                </a:solidFill>
                <a:latin typeface="Georgia"/>
              </a:rPr>
              <a:t>Mercado de salida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2944368"/>
            <a:ext cx="2487168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3182112"/>
            <a:ext cx="2487168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¿Hay oferta suficiente para construir comparables y entender la zona?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377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B2D"/>
                </a:solidFill>
                <a:latin typeface="Georgia"/>
              </a:rPr>
              <a:t>Segunda opinión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2944368"/>
            <a:ext cx="2487168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3182112"/>
            <a:ext cx="2487168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¿El modelo también detecta que el precio parece desalineado?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74920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009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12.518 avisos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537667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5340096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7.245 propiedades comparables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7667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534009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3.129 casos para investigar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70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7A7A7A"/>
                </a:solidFill>
                <a:latin typeface="Calibri"/>
              </a:rPr>
              <a:t>Geocodificación, enriquecimiento y limpieza permiten comparar; el ranking reduce el universo.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06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Transformamos datos en un proceso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Explorar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Entender precios, oferta y diferencias territoriales.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Comparar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Construir referencias entre inmuebles equivalentes.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Priorizar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Ordenar barrios y propiedades con señales explicables.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Contrastar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Usar el modelo como segunda opinión de precio.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Validar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Completar la due diligence antes de invertir.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66360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7667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0F1B2D"/>
                </a:solidFill>
                <a:latin typeface="Georgia"/>
              </a:rPr>
              <a:t>Resultado: un embudo barrio → propiedad → validación. Reduce el universo; no automatiza la compra.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PASO 1 · DÓNDE BUSCAR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07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B2D"/>
                </a:solidFill>
                <a:latin typeface="Georgia"/>
              </a:rPr>
              <a:t>Empezamos por barrios con oportunidades y comparables suficientes</a:t>
            </a:r>
          </a:p>
        </p:txBody>
      </p:sp>
      <p:pic>
        <p:nvPicPr>
          <p:cNvPr id="6" name="Picture 5" descr="02_ranking_barrios_oportun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6629400" cy="45495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99248" y="1901952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C2683C"/>
                </a:solidFill>
                <a:latin typeface="Georgia"/>
              </a:rPr>
              <a:t>Belgrano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2523744"/>
            <a:ext cx="338328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F1B2D"/>
                </a:solidFill>
                <a:latin typeface="Georgia"/>
              </a:rPr>
              <a:t>3.º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3246120"/>
            <a:ext cx="3429000" cy="8686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A3A3A"/>
                </a:solidFill>
                <a:latin typeface="Calibri"/>
              </a:rPr>
              <a:t>en el ranking territorial por mediana del índice de oportunidad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4315968"/>
            <a:ext cx="33832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452628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B2D"/>
                </a:solidFill>
                <a:latin typeface="Georgia"/>
              </a:rPr>
              <a:t>311 publicaciones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5010912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138 oportunidades elegibles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5504688"/>
            <a:ext cx="3401568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7A7A7A"/>
                </a:solidFill>
                <a:latin typeface="Calibri"/>
              </a:rPr>
              <a:t>La cantidad de avisos permite construir comparables más defendibles.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PASO 2 · QUÉ BUSCAR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08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Georgia"/>
              </a:rPr>
              <a:t>El flipper necesita descuento y margen de mejora</a:t>
            </a:r>
          </a:p>
        </p:txBody>
      </p:sp>
      <p:pic>
        <p:nvPicPr>
          <p:cNvPr id="6" name="Picture 5" descr="03_stock_mejorable_descu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6629400" cy="45992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99248" y="190195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C2683C"/>
                </a:solidFill>
                <a:latin typeface="Georgia"/>
              </a:rPr>
              <a:t>Dos señales juntas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257860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Descuento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2999232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Calibri"/>
              </a:rPr>
              <a:t>frente a propiedades comparables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36576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65760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Estado mejorable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078224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Calibri"/>
              </a:rPr>
              <a:t>posibilidad de puesta en valor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99248" y="4828032"/>
            <a:ext cx="33832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50109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Caso que veremos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5376672"/>
            <a:ext cx="3401568" cy="6858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B2D"/>
                </a:solidFill>
                <a:latin typeface="Georgia"/>
              </a:rPr>
              <a:t>Belgrano · A Refaccionar · 34,3% bajo comparables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PASO 3 · CÓMO CONTRASTAR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09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Georgia"/>
              </a:rPr>
              <a:t>El modelo aporta una segunda opinión sobre el precio</a:t>
            </a:r>
          </a:p>
        </p:txBody>
      </p:sp>
      <p:pic>
        <p:nvPicPr>
          <p:cNvPr id="6" name="Picture 5" descr="04_importancia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6537960" cy="4192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07808" y="18470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2683C"/>
                </a:solidFill>
                <a:latin typeface="Georgia"/>
              </a:rPr>
              <a:t>¿Qué mira el modelo?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87168"/>
            <a:ext cx="3429000" cy="2148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3A3A3A"/>
                </a:solidFill>
                <a:latin typeface="Calibri"/>
              </a:defRPr>
            </a:pPr>
            <a:r>
              <a:t>•  Superficie total y cubierta</a:t>
            </a:r>
          </a:p>
          <a:p>
            <a:pPr>
              <a:spcAft>
                <a:spcPts val="700"/>
              </a:spcAft>
              <a:defRPr sz="1350">
                <a:solidFill>
                  <a:srgbClr val="3A3A3A"/>
                </a:solidFill>
                <a:latin typeface="Calibri"/>
              </a:defRPr>
            </a:pPr>
            <a:r>
              <a:t>•  Expensas</a:t>
            </a:r>
          </a:p>
          <a:p>
            <a:pPr>
              <a:spcAft>
                <a:spcPts val="700"/>
              </a:spcAft>
              <a:defRPr sz="1350">
                <a:solidFill>
                  <a:srgbClr val="3A3A3A"/>
                </a:solidFill>
                <a:latin typeface="Calibri"/>
              </a:defRPr>
            </a:pPr>
            <a:r>
              <a:t>•  Ubicación</a:t>
            </a:r>
          </a:p>
          <a:p>
            <a:pPr>
              <a:spcAft>
                <a:spcPts val="700"/>
              </a:spcAft>
              <a:defRPr sz="1350">
                <a:solidFill>
                  <a:srgbClr val="3A3A3A"/>
                </a:solidFill>
                <a:latin typeface="Calibri"/>
              </a:defRPr>
            </a:pPr>
            <a:r>
              <a:t>•  Baños y antigüedad</a:t>
            </a:r>
          </a:p>
          <a:p>
            <a:pPr>
              <a:spcAft>
                <a:spcPts val="700"/>
              </a:spcAft>
              <a:defRPr sz="1350">
                <a:solidFill>
                  <a:srgbClr val="3A3A3A"/>
                </a:solidFill>
                <a:latin typeface="Calibri"/>
              </a:defRPr>
            </a:pPr>
            <a:r>
              <a:t>•  Estado y amenities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7808" y="4791456"/>
            <a:ext cx="34290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7808" y="5010912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Georgia"/>
              </a:rPr>
              <a:t>No estima el precio de reventa.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468112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7A7A7A"/>
                </a:solidFill>
                <a:latin typeface="Calibri"/>
              </a:rPr>
              <a:t>Sirve para detectar avisos cuyo precio publicado merece una revisión adicional.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LOS TRES PASOS EN 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10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B2D"/>
                </a:solidFill>
                <a:latin typeface="Georgia"/>
              </a:rPr>
              <a:t>Belgrano: una propiedad que reúne las señales para investigar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683C"/>
                </a:solidFill>
                <a:latin typeface="Calibri"/>
              </a:rPr>
              <a:t>1 · BARRIO PRIORIZADO   2 · DESCUENTO + MEJORA   3 · SEGUNDA OPINIÓN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Belgrano · Vuelta de Obligado 2600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78608"/>
            <a:ext cx="5257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Departamento · 2 ambientes · 45 m² · a refaccionar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90088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Precio publicado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3580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Georgia"/>
              </a:rPr>
              <a:t>USD 80,000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USD 1,778/m²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85032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58184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Comparable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3075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Georgia"/>
              </a:rPr>
              <a:t>USD 2,706/m²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38 avisos equivalentes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79976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53128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Subvaluación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42569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34.3%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91456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descuento frente al comparable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74920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48072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Índice de oportunidad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Georgia"/>
              </a:rPr>
              <a:t>77/100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prioriza revisión; no calcula ROI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0488" y="1755648"/>
            <a:ext cx="18288" cy="4343400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7190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SEGUNDA OPINIÓN DEL MODELO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194560"/>
            <a:ext cx="48006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267712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22402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USD 86,735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42448" y="2267712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C2683C"/>
                </a:solidFill>
                <a:latin typeface="Calibri"/>
              </a:rPr>
              <a:t>+8.4%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907791"/>
            <a:ext cx="48006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980944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Random Forest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295351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USD 87,663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42448" y="2980944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C2683C"/>
                </a:solidFill>
                <a:latin typeface="Calibri"/>
              </a:rPr>
              <a:t>+9.6%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822191"/>
            <a:ext cx="4754880" cy="9601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A3A3A"/>
                </a:solidFill>
                <a:latin typeface="Calibri"/>
              </a:rPr>
              <a:t>Ambos modelos estiman un valor superior al publicado. Esa coincidencia justifica investigar el aviso, no comprarlo automáticamente.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4983480"/>
            <a:ext cx="48006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166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F1B2D"/>
                </a:solidFill>
                <a:latin typeface="Calibri"/>
              </a:rPr>
              <a:t>ANTES DE INVERTIR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504688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Validar estado real, precio negociado, obra, impuestos, comisiones y plazo de salida.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614476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Caso ilustrativo observado en train; no es validación fuera de muestra.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IMPACTO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11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B2D"/>
                </a:solidFill>
                <a:latin typeface="Georgia"/>
              </a:rPr>
              <a:t>La herramienta concentra el esfuerzo donde hay más evidencia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Georgia"/>
              </a:rPr>
              <a:t>7.245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propiedades comparables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9339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1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2683C"/>
                </a:solidFill>
                <a:latin typeface="Georgia"/>
              </a:rPr>
              <a:t>3.129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5146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casos elegibles para investigar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18688"/>
            <a:ext cx="49834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5643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B2D"/>
                </a:solidFill>
                <a:latin typeface="Georgia"/>
              </a:rPr>
              <a:t>Qué mejora para el 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4983480" cy="1691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Menos avisos revisados sin evidencia</a:t>
            </a:r>
          </a:p>
          <a:p>
            <a:pPr>
              <a:spcAft>
                <a:spcPts val="5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Comparables construidos con reglas consistentes</a:t>
            </a:r>
          </a:p>
          <a:p>
            <a:pPr>
              <a:spcAft>
                <a:spcPts val="5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Oportunidades ordenadas y explicables</a:t>
            </a:r>
          </a:p>
          <a:p>
            <a:pPr>
              <a:spcAft>
                <a:spcPts val="5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Validaciones pendientes visibles antes de invertir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1737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MODELO COMO CONTROL ADICIONAL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56832" y="2084831"/>
            <a:ext cx="141732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216712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2084831"/>
            <a:ext cx="114300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216712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17152" y="2084831"/>
            <a:ext cx="82296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216712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MAPE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0112" y="2084831"/>
            <a:ext cx="59436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21671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56832" y="2487168"/>
            <a:ext cx="141732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578608"/>
            <a:ext cx="134416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Ridge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2" y="2487168"/>
            <a:ext cx="114300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7" y="2578608"/>
            <a:ext cx="106984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USD 49,138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17152" y="2487168"/>
            <a:ext cx="82296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2578608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25.0%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40112" y="2487168"/>
            <a:ext cx="59436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6688" y="2578608"/>
            <a:ext cx="5212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0.59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56832" y="2926080"/>
            <a:ext cx="141732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3017520"/>
            <a:ext cx="134416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Random Forest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74152" y="2926080"/>
            <a:ext cx="114300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7" y="3017520"/>
            <a:ext cx="106984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USD 41,337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17152" y="2926080"/>
            <a:ext cx="82296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3017520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21.1%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40112" y="2926080"/>
            <a:ext cx="59436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3017520"/>
            <a:ext cx="5212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0.69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3566160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B2D"/>
                </a:solidFill>
                <a:latin typeface="Georgia"/>
              </a:rPr>
              <a:t>Random Forest reduce el MAE 15,9% y mantiene mejor estabilidad en validación agrupada.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56832" y="4407408"/>
            <a:ext cx="4005072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459028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REGLAS PARA USARLO BIEN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4919472"/>
            <a:ext cx="4480560" cy="12984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Concentrar el monitoreo en zonas con evidencia suficiente</a:t>
            </a:r>
          </a:p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Priorizar descuentos defendibles, no scores aislados</a:t>
            </a:r>
          </a:p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Usar el modelo como alerta de desalineamiento</a:t>
            </a:r>
          </a:p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Cerrar siempre con due diligence financiera, técnica y legal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C7D2DD"/>
                </a:solidFill>
                <a:latin typeface="Calibri"/>
              </a:rPr>
              <a:t>12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eorgia"/>
              </a:rPr>
              <a:t>El siguiente paso es pasar de priorización a rentabilidad medida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764792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Historia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176479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Guardar cambios de precio y días en mercado.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76856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946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569464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569464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Incorporar precios negociados y efectivos.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81528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7413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374136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3374136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Registrar obra, impuestos, comisiones y financiación.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7880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17880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Operación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417880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Automatizar scores, alertas y actualización de Power BI.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90872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983480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Aprendizaje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4983480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Monitorear resultados y reentrenar el modelo.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783080"/>
            <a:ext cx="18288" cy="2743200"/>
          </a:xfrm>
          <a:prstGeom prst="rect">
            <a:avLst/>
          </a:prstGeom>
          <a:solidFill>
            <a:srgbClr val="C2683C"/>
          </a:solidFill>
          <a:ln>
            <a:solidFill>
              <a:srgbClr val="C26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828800"/>
            <a:ext cx="320040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683C"/>
                </a:solidFill>
                <a:latin typeface="Calibri"/>
              </a:rPr>
              <a:t>CUANDO EXISTAN LAS VARIABLES FINANCIERAS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57860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ROI 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182112"/>
            <a:ext cx="315468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600" b="0" i="1">
                <a:solidFill>
                  <a:srgbClr val="C7D2DD"/>
                </a:solidFill>
                <a:latin typeface="Georgia"/>
              </a:rPr>
              <a:t>(venta − compra − obra − gastos)
capital invertido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596128"/>
            <a:ext cx="10911535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70408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Georgia"/>
              </a:rPr>
              <a:t>Hasta entonces, el producto maximiza la calidad de las oportunidades detectadas. No promete retornos.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870448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C7D2DD"/>
                </a:solidFill>
                <a:latin typeface="Calibri"/>
              </a:rPr>
              <a:t>Precios publicados · Asociaciones no causales · Modelo como segunda opinión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Priorizacion de oportunidades de flip inmobiliario en CABA</dc:title>
  <dc:subject>Presentacion ejecutiva</dc:subject>
  <dc:creator>Felipe Tamaki, Matias Goldschmidt, Lucas Binelo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