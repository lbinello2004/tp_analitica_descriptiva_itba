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1_mapa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502920"/>
            <a:ext cx="6310881" cy="58064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5303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C2683C"/>
                </a:solidFill>
                <a:latin typeface="Calibri"/>
              </a:rPr>
              <a:t>ANÁLISIS DE OPORTUNIDADES INMOBILIARIAS · CABA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530352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C7D2DD"/>
                </a:solidFill>
                <a:latin typeface="Calibri"/>
              </a:rPr>
              <a:t>ITBA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886968"/>
            <a:ext cx="10652760" cy="12801"/>
          </a:xfrm>
          <a:prstGeom prst="rect">
            <a:avLst/>
          </a:prstGeom>
          <a:solidFill>
            <a:srgbClr val="2A3C52"/>
          </a:solidFill>
          <a:ln>
            <a:solidFill>
              <a:srgbClr val="2A3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691640"/>
            <a:ext cx="5852160" cy="23317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Georgia"/>
              </a:rPr>
              <a:t>Priorización de
oportunidades de
flip inmobiliario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51960"/>
            <a:ext cx="5303520" cy="8686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C7D2DD"/>
                </a:solidFill>
                <a:latin typeface="Calibri"/>
              </a:rPr>
              <a:t>Una herramienta para decidir dónde buscar, qué propiedades investigar y qué validar antes de invertir.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5440680"/>
            <a:ext cx="2743200" cy="12801"/>
          </a:xfrm>
          <a:prstGeom prst="rect">
            <a:avLst/>
          </a:prstGeom>
          <a:solidFill>
            <a:srgbClr val="C2683C"/>
          </a:solidFill>
          <a:ln>
            <a:solidFill>
              <a:srgbClr val="C26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623560"/>
            <a:ext cx="6675120" cy="3200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Felipe Tamaki · 66477   |   Matías Goldschmidt · 66061   |   Lucas Binelo · 66011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9893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C7D2DD"/>
                </a:solidFill>
                <a:latin typeface="Calibri"/>
              </a:rPr>
              <a:t>Analítica Descriptiva · Presentación ejecutiva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2683C"/>
                </a:solidFill>
                <a:latin typeface="Calibri"/>
              </a:rPr>
              <a:t>CONTEXTO Y OPORTUNIDAD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9260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7A7A7A"/>
                </a:solidFill>
                <a:latin typeface="Calibri"/>
              </a:rPr>
              <a:t>02 / 12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58368"/>
            <a:ext cx="10911535" cy="12801"/>
          </a:xfrm>
          <a:prstGeom prst="rect">
            <a:avLst/>
          </a:prstGeom>
          <a:solidFill>
            <a:srgbClr val="D8D0C2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95528"/>
            <a:ext cx="10911535" cy="7772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0F1B2D"/>
                </a:solidFill>
                <a:latin typeface="Georgia"/>
              </a:rPr>
              <a:t>Miles de avisos, pero poca evidencia para decidir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5669280" cy="9144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0F1B2D"/>
                </a:solidFill>
                <a:latin typeface="Georgia"/>
              </a:rPr>
              <a:t>El desafío no es encontrar avisos, sino compararlos antes de comprometer capital.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44368"/>
            <a:ext cx="5623560" cy="1600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3A3A3A"/>
                </a:solidFill>
                <a:latin typeface="Calibri"/>
              </a:rPr>
              <a:t>La información es heterogénea y las señales sobre precio, estado y entorno están dispersas. Sin un proceso analítico, la selección depende demasiado de intuición y tiempo de búsqueda.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1737360"/>
            <a:ext cx="3657600" cy="62179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3700" b="1" i="0">
                <a:solidFill>
                  <a:srgbClr val="0F1B2D"/>
                </a:solidFill>
                <a:latin typeface="Georgia"/>
              </a:rPr>
              <a:t>12.518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6096" y="239572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7A7A7A"/>
                </a:solidFill>
                <a:latin typeface="Calibri"/>
              </a:rPr>
              <a:t>avisos relevados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52360" y="2944368"/>
            <a:ext cx="3977639" cy="12801"/>
          </a:xfrm>
          <a:prstGeom prst="rect">
            <a:avLst/>
          </a:prstGeom>
          <a:solidFill>
            <a:srgbClr val="D8D0C2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0" y="3090672"/>
            <a:ext cx="3657600" cy="62179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3700" b="1" i="0">
                <a:solidFill>
                  <a:srgbClr val="0F1B2D"/>
                </a:solidFill>
                <a:latin typeface="Georgia"/>
              </a:rPr>
              <a:t>48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6096" y="3749039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7A7A7A"/>
                </a:solidFill>
                <a:latin typeface="Calibri"/>
              </a:rPr>
              <a:t>barrios con dinámicas distintas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4297679"/>
            <a:ext cx="3977639" cy="12801"/>
          </a:xfrm>
          <a:prstGeom prst="rect">
            <a:avLst/>
          </a:prstGeom>
          <a:solidFill>
            <a:srgbClr val="D8D0C2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0" y="4443983"/>
            <a:ext cx="3657600" cy="62179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3700" b="1" i="0">
                <a:solidFill>
                  <a:srgbClr val="0F1B2D"/>
                </a:solidFill>
                <a:latin typeface="Georgia"/>
              </a:rPr>
              <a:t>USD 100k+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6096" y="5102351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7A7A7A"/>
                </a:solidFill>
                <a:latin typeface="Calibri"/>
              </a:rPr>
              <a:t>capital típico comprometido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42631" y="1783080"/>
            <a:ext cx="18288" cy="3886200"/>
          </a:xfrm>
          <a:prstGeom prst="rect">
            <a:avLst/>
          </a:prstGeom>
          <a:solidFill>
            <a:srgbClr val="C2683C"/>
          </a:solidFill>
          <a:ln>
            <a:solidFill>
              <a:srgbClr val="C26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2683C"/>
                </a:solidFill>
                <a:latin typeface="Calibri"/>
              </a:rPr>
              <a:t>OBJETIVO DEL ANÁLISIS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9260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7A7A7A"/>
                </a:solidFill>
                <a:latin typeface="Calibri"/>
              </a:rPr>
              <a:t>03 / 12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58368"/>
            <a:ext cx="10911535" cy="12801"/>
          </a:xfrm>
          <a:prstGeom prst="rect">
            <a:avLst/>
          </a:prstGeom>
          <a:solidFill>
            <a:srgbClr val="D8D0C2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95528"/>
            <a:ext cx="10911535" cy="7772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0F1B2D"/>
                </a:solidFill>
                <a:latin typeface="Georgia"/>
              </a:rPr>
              <a:t>Buscamos reducir el universo antes de invertir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55648"/>
            <a:ext cx="10607040" cy="11430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0"/>
              </a:spcAft>
            </a:pPr>
            <a:r>
              <a:rPr sz="2400" b="0" i="1">
                <a:solidFill>
                  <a:srgbClr val="0F1B2D"/>
                </a:solidFill>
                <a:latin typeface="Georgia"/>
              </a:rPr>
              <a:t>¿Cómo concentrar la búsqueda en barrios y propiedades con mejores señales de </a:t>
            </a:r>
            <a:r>
              <a:rPr sz="2400" b="1" i="1">
                <a:solidFill>
                  <a:srgbClr val="C2683C"/>
                </a:solidFill>
                <a:latin typeface="Georgia"/>
              </a:rPr>
              <a:t>descuento, puesta en valor y salida comercial?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46120"/>
            <a:ext cx="640080" cy="4114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C2683C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721608"/>
            <a:ext cx="3383280" cy="4114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0F1B2D"/>
                </a:solidFill>
                <a:latin typeface="Georgia"/>
              </a:rPr>
              <a:t>Barrio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206240"/>
            <a:ext cx="3246120" cy="12801"/>
          </a:xfrm>
          <a:prstGeom prst="rect">
            <a:avLst/>
          </a:prstGeom>
          <a:solidFill>
            <a:srgbClr val="D8D0C2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325112"/>
            <a:ext cx="3291840" cy="12801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3A3A3A"/>
                </a:solidFill>
                <a:latin typeface="Calibri"/>
              </a:rPr>
              <a:t>Elegir dónde concentrar el monitoreo y construir comparables.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07408" y="3246120"/>
            <a:ext cx="640080" cy="4114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C2683C"/>
                </a:solidFill>
                <a:latin typeface="Georgia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07408" y="3721608"/>
            <a:ext cx="3383280" cy="4114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0F1B2D"/>
                </a:solidFill>
                <a:latin typeface="Georgia"/>
              </a:rPr>
              <a:t>Propiedad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07408" y="4206240"/>
            <a:ext cx="3246120" cy="12801"/>
          </a:xfrm>
          <a:prstGeom prst="rect">
            <a:avLst/>
          </a:prstGeom>
          <a:solidFill>
            <a:srgbClr val="D8D0C2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07408" y="4325112"/>
            <a:ext cx="3291840" cy="12801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3A3A3A"/>
                </a:solidFill>
                <a:latin typeface="Calibri"/>
              </a:rPr>
              <a:t>Ordenar avisos según descuento relativo, estado y evidencia disponible.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4736" y="3246120"/>
            <a:ext cx="640080" cy="4114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C2683C"/>
                </a:solidFill>
                <a:latin typeface="Georgia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74736" y="3721608"/>
            <a:ext cx="3383280" cy="4114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0F1B2D"/>
                </a:solidFill>
                <a:latin typeface="Georgia"/>
              </a:rPr>
              <a:t>Validación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74736" y="4206240"/>
            <a:ext cx="3246120" cy="12801"/>
          </a:xfrm>
          <a:prstGeom prst="rect">
            <a:avLst/>
          </a:prstGeom>
          <a:solidFill>
            <a:srgbClr val="D8D0C2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74736" y="4325112"/>
            <a:ext cx="3291840" cy="12801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3A3A3A"/>
                </a:solidFill>
                <a:latin typeface="Calibri"/>
              </a:rPr>
              <a:t>Confirmar precio negociado, estado real, obra, gastos y plazo de salida.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2683C"/>
                </a:solidFill>
                <a:latin typeface="Calibri"/>
              </a:rPr>
              <a:t>DATOS UTILIZADOS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9260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7A7A7A"/>
                </a:solidFill>
                <a:latin typeface="Calibri"/>
              </a:rPr>
              <a:t>04 / 12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58368"/>
            <a:ext cx="10911535" cy="12801"/>
          </a:xfrm>
          <a:prstGeom prst="rect">
            <a:avLst/>
          </a:prstGeom>
          <a:solidFill>
            <a:srgbClr val="D8D0C2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95528"/>
            <a:ext cx="10911535" cy="7772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0F1B2D"/>
                </a:solidFill>
                <a:latin typeface="Georgia"/>
              </a:rPr>
              <a:t>Integramos publicaciones con información territorial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94360" cy="4114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C2683C"/>
                </a:solidFill>
                <a:latin typeface="Georgia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59152"/>
            <a:ext cx="3246120" cy="34747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F1B2D"/>
                </a:solidFill>
                <a:latin typeface="Calibri"/>
              </a:rPr>
              <a:t>ARGENPROP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816352"/>
            <a:ext cx="3154680" cy="12801"/>
          </a:xfrm>
          <a:prstGeom prst="rect">
            <a:avLst/>
          </a:prstGeom>
          <a:solidFill>
            <a:srgbClr val="D8D0C2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999232"/>
            <a:ext cx="3154680" cy="7315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3A3A3A"/>
                </a:solidFill>
                <a:latin typeface="Georgia"/>
              </a:rPr>
              <a:t>Publicaciones de departamentos en venta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886200"/>
            <a:ext cx="3154680" cy="9144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7A7A7A"/>
                </a:solidFill>
                <a:latin typeface="Calibri"/>
              </a:rPr>
              <a:t>Precio, superficie, ambientes, estado y amenities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50208" y="306324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C2683C"/>
                </a:solidFill>
                <a:latin typeface="Georgia"/>
              </a:rPr>
              <a:t>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07408" y="1828800"/>
            <a:ext cx="594360" cy="4114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C2683C"/>
                </a:solidFill>
                <a:latin typeface="Georgia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07408" y="2359152"/>
            <a:ext cx="3246120" cy="34747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F1B2D"/>
                </a:solidFill>
                <a:latin typeface="Calibri"/>
              </a:rPr>
              <a:t>GCBA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07408" y="2816352"/>
            <a:ext cx="3154680" cy="12801"/>
          </a:xfrm>
          <a:prstGeom prst="rect">
            <a:avLst/>
          </a:prstGeom>
          <a:solidFill>
            <a:srgbClr val="D8D0C2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07408" y="2999232"/>
            <a:ext cx="3154680" cy="7315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3A3A3A"/>
                </a:solidFill>
                <a:latin typeface="Georgia"/>
              </a:rPr>
              <a:t>Datos abiertos de la Ciudad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7408" y="3886200"/>
            <a:ext cx="3154680" cy="9144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7A7A7A"/>
                </a:solidFill>
                <a:latin typeface="Calibri"/>
              </a:rPr>
              <a:t>Barrios, comunas, subte, hospitales y contexto urbano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17536" y="306324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C2683C"/>
                </a:solidFill>
                <a:latin typeface="Georgia"/>
              </a:rPr>
              <a:t>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74736" y="1828800"/>
            <a:ext cx="594360" cy="4114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C2683C"/>
                </a:solidFill>
                <a:latin typeface="Georgia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74736" y="2359152"/>
            <a:ext cx="3246120" cy="34747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F1B2D"/>
                </a:solidFill>
                <a:latin typeface="Calibri"/>
              </a:rPr>
              <a:t>OPENSTREETMAP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74736" y="2816352"/>
            <a:ext cx="3154680" cy="12801"/>
          </a:xfrm>
          <a:prstGeom prst="rect">
            <a:avLst/>
          </a:prstGeom>
          <a:solidFill>
            <a:srgbClr val="D8D0C2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74736" y="2999232"/>
            <a:ext cx="3154680" cy="7315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3A3A3A"/>
                </a:solidFill>
                <a:latin typeface="Georgia"/>
              </a:rPr>
              <a:t>Servicios y geocodificación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74736" y="3886200"/>
            <a:ext cx="3154680" cy="9144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7A7A7A"/>
                </a:solidFill>
                <a:latin typeface="Calibri"/>
              </a:rPr>
              <a:t>Colegios, supermercados, avenidas y transporte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5257800"/>
            <a:ext cx="10911535" cy="12801"/>
          </a:xfrm>
          <a:prstGeom prst="rect">
            <a:avLst/>
          </a:prstGeom>
          <a:solidFill>
            <a:srgbClr val="D8D0C2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44068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0F1B2D"/>
                </a:solidFill>
                <a:latin typeface="Georgia"/>
              </a:rPr>
              <a:t>Cada fila representa una publicación. El análisis trabaja con precios publicados, no con precios efectivos de cierre.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2683C"/>
                </a:solidFill>
                <a:latin typeface="Calibri"/>
              </a:rPr>
              <a:t>CONSTRUCCIÓN DEL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9260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7A7A7A"/>
                </a:solidFill>
                <a:latin typeface="Calibri"/>
              </a:rPr>
              <a:t>05 / 12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58368"/>
            <a:ext cx="10911535" cy="12801"/>
          </a:xfrm>
          <a:prstGeom prst="rect">
            <a:avLst/>
          </a:prstGeom>
          <a:solidFill>
            <a:srgbClr val="D8D0C2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95528"/>
            <a:ext cx="10911535" cy="7772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0F1B2D"/>
                </a:solidFill>
                <a:latin typeface="Georgia"/>
              </a:rPr>
              <a:t>De 12.518 avisos a una base comparable de 7.245 propiedades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0F1B2D"/>
                </a:solidFill>
                <a:latin typeface="Calibri"/>
              </a:rPr>
              <a:t>CRUDO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87168"/>
            <a:ext cx="1965960" cy="6583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0F1B2D"/>
                </a:solidFill>
                <a:latin typeface="Georgia"/>
              </a:rPr>
              <a:t>12.518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337560"/>
            <a:ext cx="1828800" cy="12801"/>
          </a:xfrm>
          <a:prstGeom prst="rect">
            <a:avLst/>
          </a:prstGeom>
          <a:solidFill>
            <a:srgbClr val="D8D0C2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547872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7A7A7A"/>
                </a:solidFill>
                <a:latin typeface="Calibri"/>
              </a:rPr>
              <a:t>Avisos extraídos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2587752"/>
            <a:ext cx="32004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2200" b="0" i="0">
                <a:solidFill>
                  <a:srgbClr val="7A7A7A"/>
                </a:solidFill>
                <a:latin typeface="Calibri"/>
              </a:rPr>
              <a:t>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62072" y="2148840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0F1B2D"/>
                </a:solidFill>
                <a:latin typeface="Calibri"/>
              </a:rPr>
              <a:t>GEOCODIFICADO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62072" y="2487168"/>
            <a:ext cx="1965960" cy="6583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0F1B2D"/>
                </a:solidFill>
                <a:latin typeface="Georgia"/>
              </a:rPr>
              <a:t>12.518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62072" y="3337560"/>
            <a:ext cx="1828800" cy="12801"/>
          </a:xfrm>
          <a:prstGeom prst="rect">
            <a:avLst/>
          </a:prstGeom>
          <a:solidFill>
            <a:srgbClr val="D8D0C2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62072" y="3547872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7A7A7A"/>
                </a:solidFill>
                <a:latin typeface="Calibri"/>
              </a:rPr>
              <a:t>Ubicación validada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6592" y="2587752"/>
            <a:ext cx="32004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2200" b="0" i="0">
                <a:solidFill>
                  <a:srgbClr val="7A7A7A"/>
                </a:solidFill>
                <a:latin typeface="Calibri"/>
              </a:rPr>
              <a:t>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84064" y="2148840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0F1B2D"/>
                </a:solidFill>
                <a:latin typeface="Calibri"/>
              </a:rPr>
              <a:t>ENRIQUECIDO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84064" y="2487168"/>
            <a:ext cx="1965960" cy="6583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0F1B2D"/>
                </a:solidFill>
                <a:latin typeface="Georgia"/>
              </a:rPr>
              <a:t>7.991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84064" y="3337560"/>
            <a:ext cx="1828800" cy="12801"/>
          </a:xfrm>
          <a:prstGeom prst="rect">
            <a:avLst/>
          </a:prstGeom>
          <a:solidFill>
            <a:srgbClr val="D8D0C2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84064" y="3547872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7A7A7A"/>
                </a:solidFill>
                <a:latin typeface="Calibri"/>
              </a:rPr>
              <a:t>Servicios urbanos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58584" y="2587752"/>
            <a:ext cx="32004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2200" b="0" i="0">
                <a:solidFill>
                  <a:srgbClr val="7A7A7A"/>
                </a:solidFill>
                <a:latin typeface="Calibri"/>
              </a:rPr>
              <a:t>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06056" y="2148840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0F1B2D"/>
                </a:solidFill>
                <a:latin typeface="Calibri"/>
              </a:rPr>
              <a:t>LIMPIO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06056" y="2487168"/>
            <a:ext cx="1965960" cy="6583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0F1B2D"/>
                </a:solidFill>
                <a:latin typeface="Georgia"/>
              </a:rPr>
              <a:t>7.245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06056" y="3337560"/>
            <a:ext cx="1828800" cy="12801"/>
          </a:xfrm>
          <a:prstGeom prst="rect">
            <a:avLst/>
          </a:prstGeom>
          <a:solidFill>
            <a:srgbClr val="D8D0C2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06056" y="3547872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7A7A7A"/>
                </a:solidFill>
                <a:latin typeface="Calibri"/>
              </a:rPr>
              <a:t>Tipos y outliers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0576" y="2587752"/>
            <a:ext cx="32004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2200" b="0" i="0">
                <a:solidFill>
                  <a:srgbClr val="7A7A7A"/>
                </a:solidFill>
                <a:latin typeface="Calibri"/>
              </a:rPr>
              <a:t>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28048" y="2148840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C2683C"/>
                </a:solidFill>
                <a:latin typeface="Calibri"/>
              </a:rPr>
              <a:t>FINAL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28048" y="2487168"/>
            <a:ext cx="1965960" cy="6583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C2683C"/>
                </a:solidFill>
                <a:latin typeface="Georgia"/>
              </a:rPr>
              <a:t>7.245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528048" y="3337560"/>
            <a:ext cx="1828800" cy="12801"/>
          </a:xfrm>
          <a:prstGeom prst="rect">
            <a:avLst/>
          </a:prstGeom>
          <a:solidFill>
            <a:srgbClr val="C2683C"/>
          </a:solidFill>
          <a:ln>
            <a:solidFill>
              <a:srgbClr val="C26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28048" y="3547872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7A7A7A"/>
                </a:solidFill>
                <a:latin typeface="Calibri"/>
              </a:rPr>
              <a:t>Índices y clusters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61772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2683C"/>
                </a:solidFill>
                <a:latin typeface="Calibri"/>
              </a:rPr>
              <a:t>Transformaciones principales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983480"/>
            <a:ext cx="10698480" cy="11430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3A3A3A"/>
                </a:solidFill>
                <a:latin typeface="Calibri"/>
              </a:defRPr>
            </a:pPr>
            <a:r>
              <a:t>•  Geocodificación y control dentro de CABA</a:t>
            </a:r>
          </a:p>
          <a:p>
            <a:pPr>
              <a:spcAft>
                <a:spcPts val="400"/>
              </a:spcAft>
              <a:defRPr sz="1250">
                <a:solidFill>
                  <a:srgbClr val="3A3A3A"/>
                </a:solidFill>
                <a:latin typeface="Calibri"/>
              </a:defRPr>
            </a:pPr>
            <a:r>
              <a:t>•  Enriquecimiento con transporte y servicios</a:t>
            </a:r>
          </a:p>
          <a:p>
            <a:pPr>
              <a:spcAft>
                <a:spcPts val="400"/>
              </a:spcAft>
              <a:defRPr sz="1250">
                <a:solidFill>
                  <a:srgbClr val="3A3A3A"/>
                </a:solidFill>
                <a:latin typeface="Calibri"/>
              </a:defRPr>
            </a:pPr>
            <a:r>
              <a:t>•  Limpieza, imputación y tratamiento de valores atípicos</a:t>
            </a:r>
          </a:p>
          <a:p>
            <a:pPr>
              <a:spcAft>
                <a:spcPts val="400"/>
              </a:spcAft>
              <a:defRPr sz="1250">
                <a:solidFill>
                  <a:srgbClr val="3A3A3A"/>
                </a:solidFill>
                <a:latin typeface="Calibri"/>
              </a:defRPr>
            </a:pPr>
            <a:r>
              <a:t>•  Construcción de comparables, scores e índices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2683C"/>
                </a:solidFill>
                <a:latin typeface="Calibri"/>
              </a:rPr>
              <a:t>LA SOLUCIÓN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9260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7A7A7A"/>
                </a:solidFill>
                <a:latin typeface="Calibri"/>
              </a:rPr>
              <a:t>06 / 12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58368"/>
            <a:ext cx="10911535" cy="12801"/>
          </a:xfrm>
          <a:prstGeom prst="rect">
            <a:avLst/>
          </a:prstGeom>
          <a:solidFill>
            <a:srgbClr val="D8D0C2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95528"/>
            <a:ext cx="10911535" cy="7772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0F1B2D"/>
                </a:solidFill>
                <a:latin typeface="Georgia"/>
              </a:rPr>
              <a:t>Transformamos datos en un proceso de decisión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3852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C2683C"/>
                </a:solidFill>
                <a:latin typeface="Georgia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1965960" cy="3840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0F1B2D"/>
                </a:solidFill>
                <a:latin typeface="Georgia"/>
              </a:rPr>
              <a:t>Explorar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990088"/>
            <a:ext cx="1874519" cy="12801"/>
          </a:xfrm>
          <a:prstGeom prst="rect">
            <a:avLst/>
          </a:prstGeom>
          <a:solidFill>
            <a:srgbClr val="D8D0C2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218688"/>
            <a:ext cx="1874519" cy="1417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3A3A3A"/>
                </a:solidFill>
                <a:latin typeface="Calibri"/>
              </a:rPr>
              <a:t>Entender precios, oferta y diferencias territoriales.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36576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C2683C"/>
                </a:solidFill>
                <a:latin typeface="Calibri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193852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C2683C"/>
                </a:solidFill>
                <a:latin typeface="Georgia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2468880"/>
            <a:ext cx="1965960" cy="3840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0F1B2D"/>
                </a:solidFill>
                <a:latin typeface="Georgia"/>
              </a:rPr>
              <a:t>Comparar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80360" y="2990088"/>
            <a:ext cx="1874519" cy="12801"/>
          </a:xfrm>
          <a:prstGeom prst="rect">
            <a:avLst/>
          </a:prstGeom>
          <a:solidFill>
            <a:srgbClr val="D8D0C2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0360" y="3218688"/>
            <a:ext cx="1874519" cy="1417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3A3A3A"/>
                </a:solidFill>
                <a:latin typeface="Calibri"/>
              </a:rPr>
              <a:t>Construir referencias entre inmuebles equivalentes.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36576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C2683C"/>
                </a:solidFill>
                <a:latin typeface="Calibri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193852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C2683C"/>
                </a:solidFill>
                <a:latin typeface="Georgia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2468880"/>
            <a:ext cx="1965960" cy="3840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0F1B2D"/>
                </a:solidFill>
                <a:latin typeface="Georgia"/>
              </a:rPr>
              <a:t>Priorizar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20640" y="2990088"/>
            <a:ext cx="1874519" cy="12801"/>
          </a:xfrm>
          <a:prstGeom prst="rect">
            <a:avLst/>
          </a:prstGeom>
          <a:solidFill>
            <a:srgbClr val="D8D0C2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0" y="3218688"/>
            <a:ext cx="1874519" cy="1417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3A3A3A"/>
                </a:solidFill>
                <a:latin typeface="Calibri"/>
              </a:rPr>
              <a:t>Ordenar barrios y propiedades con señales explicables.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36576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C2683C"/>
                </a:solidFill>
                <a:latin typeface="Calibri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193852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C2683C"/>
                </a:solidFill>
                <a:latin typeface="Georgia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60920" y="2468880"/>
            <a:ext cx="1965960" cy="3840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0F1B2D"/>
                </a:solidFill>
                <a:latin typeface="Georgia"/>
              </a:rPr>
              <a:t>Contrastar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60920" y="2990088"/>
            <a:ext cx="1874519" cy="12801"/>
          </a:xfrm>
          <a:prstGeom prst="rect">
            <a:avLst/>
          </a:prstGeom>
          <a:solidFill>
            <a:srgbClr val="D8D0C2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60920" y="3218688"/>
            <a:ext cx="1874519" cy="1417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3A3A3A"/>
                </a:solidFill>
                <a:latin typeface="Calibri"/>
              </a:rPr>
              <a:t>Usar el modelo como segunda opinión de precio.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36576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C2683C"/>
                </a:solidFill>
                <a:latin typeface="Calibri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193852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C2683C"/>
                </a:solidFill>
                <a:latin typeface="Georgia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2468880"/>
            <a:ext cx="1965960" cy="3840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0F1B2D"/>
                </a:solidFill>
                <a:latin typeface="Georgia"/>
              </a:rPr>
              <a:t>Validar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01200" y="2990088"/>
            <a:ext cx="1874519" cy="12801"/>
          </a:xfrm>
          <a:prstGeom prst="rect">
            <a:avLst/>
          </a:prstGeom>
          <a:solidFill>
            <a:srgbClr val="D8D0C2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0" y="3218688"/>
            <a:ext cx="1874519" cy="1417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3A3A3A"/>
                </a:solidFill>
                <a:latin typeface="Calibri"/>
              </a:rPr>
              <a:t>Completar la due diligence antes de invertir.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5166360"/>
            <a:ext cx="10911535" cy="12801"/>
          </a:xfrm>
          <a:prstGeom prst="rect">
            <a:avLst/>
          </a:prstGeom>
          <a:solidFill>
            <a:srgbClr val="D8D0C2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5376672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500" b="0" i="1">
                <a:solidFill>
                  <a:srgbClr val="0F1B2D"/>
                </a:solidFill>
                <a:latin typeface="Georgia"/>
              </a:rPr>
              <a:t>Resultado: un embudo barrio → propiedad → validación. Reduce el universo; no automatiza la compra.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2683C"/>
                </a:solidFill>
                <a:latin typeface="Calibri"/>
              </a:rPr>
              <a:t>HALLAZGO 1 · TERRITORIO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9260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7A7A7A"/>
                </a:solidFill>
                <a:latin typeface="Calibri"/>
              </a:rPr>
              <a:t>07 / 12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58368"/>
            <a:ext cx="10911535" cy="12801"/>
          </a:xfrm>
          <a:prstGeom prst="rect">
            <a:avLst/>
          </a:prstGeom>
          <a:solidFill>
            <a:srgbClr val="D8D0C2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95528"/>
            <a:ext cx="10911535" cy="7772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0F1B2D"/>
                </a:solidFill>
                <a:latin typeface="Georgia"/>
              </a:rPr>
              <a:t>El barrio es el primer filtro de precio</a:t>
            </a:r>
          </a:p>
        </p:txBody>
      </p:sp>
      <p:pic>
        <p:nvPicPr>
          <p:cNvPr id="6" name="Picture 5" descr="02_precio_m2_barr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73352"/>
            <a:ext cx="6720840" cy="455082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26679" y="1874519"/>
            <a:ext cx="3474720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C2683C"/>
                </a:solidFill>
                <a:latin typeface="Georgia"/>
              </a:rPr>
              <a:t>Puerto Madero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2487168"/>
            <a:ext cx="3474720" cy="5943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3100" b="1" i="0">
                <a:solidFill>
                  <a:srgbClr val="0F1B2D"/>
                </a:solidFill>
                <a:latin typeface="Georgia"/>
              </a:rPr>
              <a:t>USD 4.786/m²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3182112"/>
            <a:ext cx="3429000" cy="9144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3A3A3A"/>
                </a:solidFill>
                <a:latin typeface="Calibri"/>
              </a:rPr>
              <a:t>Mediana publicada, claramente separada del resto de los barrios analizados.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26679" y="4315968"/>
            <a:ext cx="3429000" cy="12801"/>
          </a:xfrm>
          <a:prstGeom prst="rect">
            <a:avLst/>
          </a:prstGeom>
          <a:solidFill>
            <a:srgbClr val="D8D0C2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26679" y="4507992"/>
            <a:ext cx="3429000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C2683C"/>
                </a:solidFill>
                <a:latin typeface="Georgia"/>
              </a:rPr>
              <a:t>ε² = 0,305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5102352"/>
            <a:ext cx="3429000" cy="7315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7A7A7A"/>
                </a:solidFill>
                <a:latin typeface="Calibri"/>
              </a:rPr>
              <a:t>La diferencia territorial tiene un tamaño de efecto relevante.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2683C"/>
                </a:solidFill>
                <a:latin typeface="Calibri"/>
              </a:rPr>
              <a:t>HALLAZGO 2 · ACCESIBILIDAD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9260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7A7A7A"/>
                </a:solidFill>
                <a:latin typeface="Calibri"/>
              </a:rPr>
              <a:t>08 / 12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58368"/>
            <a:ext cx="10911535" cy="12801"/>
          </a:xfrm>
          <a:prstGeom prst="rect">
            <a:avLst/>
          </a:prstGeom>
          <a:solidFill>
            <a:srgbClr val="D8D0C2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95528"/>
            <a:ext cx="10911535" cy="7772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0F1B2D"/>
                </a:solidFill>
                <a:latin typeface="Georgia"/>
              </a:rPr>
              <a:t>La accesibilidad no siempre implica una prima de precio</a:t>
            </a:r>
          </a:p>
        </p:txBody>
      </p:sp>
      <p:pic>
        <p:nvPicPr>
          <p:cNvPr id="6" name="Picture 5" descr="03_accesibilidad_prec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64208"/>
            <a:ext cx="6629400" cy="460806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26679" y="1993392"/>
            <a:ext cx="3291840" cy="7772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4000" b="1" i="0">
                <a:solidFill>
                  <a:srgbClr val="C2683C"/>
                </a:solidFill>
                <a:latin typeface="Georgia"/>
              </a:rPr>
              <a:t>−11,7%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2816352"/>
            <a:ext cx="3383280" cy="7772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F1B2D"/>
                </a:solidFill>
                <a:latin typeface="Calibri"/>
              </a:rPr>
              <a:t>mediana de precio/m² en accesibilidad alta versus baja</a:t>
            </a:r>
          </a:p>
        </p:txBody>
      </p:sp>
      <p:sp>
        <p:nvSpPr>
          <p:cNvPr id="9" name="Rectangle 8"/>
          <p:cNvSpPr/>
          <p:nvPr/>
        </p:nvSpPr>
        <p:spPr>
          <a:xfrm>
            <a:off x="7726679" y="3822191"/>
            <a:ext cx="3337560" cy="12801"/>
          </a:xfrm>
          <a:prstGeom prst="rect">
            <a:avLst/>
          </a:prstGeom>
          <a:solidFill>
            <a:srgbClr val="D8D0C2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26679" y="4041648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2683C"/>
                </a:solidFill>
                <a:latin typeface="Calibri"/>
              </a:rPr>
              <a:t>Lectura de negocio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4434840"/>
            <a:ext cx="3383280" cy="12344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3A3A3A"/>
                </a:solidFill>
                <a:latin typeface="Calibri"/>
              </a:rPr>
              <a:t>Existen zonas bien conectadas con precios de entrada relativamente menores. Es una señal para investigar, no una ineficiencia demostrada.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5806440"/>
            <a:ext cx="3383280" cy="3840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50" b="0" i="1">
                <a:solidFill>
                  <a:srgbClr val="7A7A7A"/>
                </a:solidFill>
                <a:latin typeface="Calibri"/>
              </a:rPr>
              <a:t>Comparación descriptiva: no controla barrio, superficie, estado ni calidad.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2683C"/>
                </a:solidFill>
                <a:latin typeface="Calibri"/>
              </a:rPr>
              <a:t>HALLAZGO 3 · PRODUCTO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9260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7A7A7A"/>
                </a:solidFill>
                <a:latin typeface="Calibri"/>
              </a:rPr>
              <a:t>09 / 12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58368"/>
            <a:ext cx="10911535" cy="12801"/>
          </a:xfrm>
          <a:prstGeom prst="rect">
            <a:avLst/>
          </a:prstGeom>
          <a:solidFill>
            <a:srgbClr val="D8D0C2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95528"/>
            <a:ext cx="10911535" cy="7772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0F1B2D"/>
                </a:solidFill>
                <a:latin typeface="Georgia"/>
              </a:rPr>
              <a:t>La mayor dotación se asocia con una prima que cambia por barrio</a:t>
            </a:r>
          </a:p>
        </p:txBody>
      </p:sp>
      <p:pic>
        <p:nvPicPr>
          <p:cNvPr id="6" name="Picture 5" descr="04_amenities_prec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64208"/>
            <a:ext cx="6629400" cy="460806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35240" y="1874519"/>
            <a:ext cx="3657600" cy="6858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C2683C"/>
                </a:solidFill>
                <a:latin typeface="Georgia"/>
              </a:rPr>
              <a:t>+ USD 392/m²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53527" y="2651760"/>
            <a:ext cx="3520440" cy="6858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F1B2D"/>
                </a:solidFill>
                <a:latin typeface="Calibri"/>
              </a:rPr>
              <a:t>diferencia descriptiva entre dotación alta y baja</a:t>
            </a:r>
          </a:p>
        </p:txBody>
      </p:sp>
      <p:sp>
        <p:nvSpPr>
          <p:cNvPr id="9" name="Rectangle 8"/>
          <p:cNvSpPr/>
          <p:nvPr/>
        </p:nvSpPr>
        <p:spPr>
          <a:xfrm>
            <a:off x="7653527" y="3611880"/>
            <a:ext cx="3401568" cy="12801"/>
          </a:xfrm>
          <a:prstGeom prst="rect">
            <a:avLst/>
          </a:prstGeom>
          <a:solidFill>
            <a:srgbClr val="D8D0C2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53527" y="3822191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0F1B2D"/>
                </a:solidFill>
                <a:latin typeface="Georgia"/>
              </a:rPr>
              <a:t>Hasta USD 845/m²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53527" y="4407408"/>
            <a:ext cx="3401568" cy="8686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3A3A3A"/>
                </a:solidFill>
                <a:latin typeface="Calibri"/>
              </a:rPr>
              <a:t>en el barrio con mayor brecha observada entre los que tienen al menos 50 propiedades.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53527" y="5532120"/>
            <a:ext cx="3401568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100" b="0" i="1">
                <a:solidFill>
                  <a:srgbClr val="7A7A7A"/>
                </a:solidFill>
                <a:latin typeface="Calibri"/>
              </a:rPr>
              <a:t>La asociación no prueba que una obra recupere su costo.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2683C"/>
                </a:solidFill>
                <a:latin typeface="Calibri"/>
              </a:rPr>
              <a:t>EL PROCESO EN ACCIÓN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9260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7A7A7A"/>
                </a:solidFill>
                <a:latin typeface="Calibri"/>
              </a:rPr>
              <a:t>10 / 12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58368"/>
            <a:ext cx="10911535" cy="12801"/>
          </a:xfrm>
          <a:prstGeom prst="rect">
            <a:avLst/>
          </a:prstGeom>
          <a:solidFill>
            <a:srgbClr val="D8D0C2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95528"/>
            <a:ext cx="10911535" cy="7772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0F1B2D"/>
                </a:solidFill>
                <a:latin typeface="Georgia"/>
              </a:rPr>
              <a:t>De una señal analítica a una propiedad para investigar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19072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2683C"/>
                </a:solidFill>
                <a:latin typeface="Calibri"/>
              </a:rPr>
              <a:t>PROPIEDAD PRIORIZADA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57400"/>
            <a:ext cx="5212080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0F1B2D"/>
                </a:solidFill>
                <a:latin typeface="Georgia"/>
              </a:rPr>
              <a:t>Belgrano · Vuelta de Obligado 2600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78608"/>
            <a:ext cx="5257800" cy="34747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7A7A7A"/>
                </a:solidFill>
                <a:latin typeface="Calibri"/>
              </a:rPr>
              <a:t>Departamento · 2 ambientes · 45 m² · a refaccionar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990088"/>
            <a:ext cx="5212080" cy="12801"/>
          </a:xfrm>
          <a:prstGeom prst="rect">
            <a:avLst/>
          </a:prstGeom>
          <a:solidFill>
            <a:srgbClr val="D8D0C2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63240"/>
            <a:ext cx="2148840" cy="31089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7A7A7A"/>
                </a:solidFill>
                <a:latin typeface="Calibri"/>
              </a:rPr>
              <a:t>Precio publicado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3035808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Aft>
                <a:spcPts val="0"/>
              </a:spcAft>
            </a:pPr>
            <a:r>
              <a:rPr sz="1700" b="1" i="0">
                <a:solidFill>
                  <a:srgbClr val="0F1B2D"/>
                </a:solidFill>
                <a:latin typeface="Georgia"/>
              </a:rPr>
              <a:t>USD 80,000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401568"/>
            <a:ext cx="5212080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950" b="0" i="1">
                <a:solidFill>
                  <a:srgbClr val="7A7A7A"/>
                </a:solidFill>
                <a:latin typeface="Calibri"/>
              </a:rPr>
              <a:t>USD 1,778/m²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685032"/>
            <a:ext cx="5212080" cy="12801"/>
          </a:xfrm>
          <a:prstGeom prst="rect">
            <a:avLst/>
          </a:prstGeom>
          <a:solidFill>
            <a:srgbClr val="D8D0C2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758184"/>
            <a:ext cx="2148840" cy="31089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7A7A7A"/>
                </a:solidFill>
                <a:latin typeface="Calibri"/>
              </a:rPr>
              <a:t>Comparable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3730752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Aft>
                <a:spcPts val="0"/>
              </a:spcAft>
            </a:pPr>
            <a:r>
              <a:rPr sz="1700" b="1" i="0">
                <a:solidFill>
                  <a:srgbClr val="0F1B2D"/>
                </a:solidFill>
                <a:latin typeface="Georgia"/>
              </a:rPr>
              <a:t>USD 2,706/m²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096512"/>
            <a:ext cx="5212080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950" b="0" i="1">
                <a:solidFill>
                  <a:srgbClr val="7A7A7A"/>
                </a:solidFill>
                <a:latin typeface="Calibri"/>
              </a:rPr>
              <a:t>38 avisos equivalentes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379976"/>
            <a:ext cx="5212080" cy="12801"/>
          </a:xfrm>
          <a:prstGeom prst="rect">
            <a:avLst/>
          </a:prstGeom>
          <a:solidFill>
            <a:srgbClr val="D8D0C2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453128"/>
            <a:ext cx="2148840" cy="31089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7A7A7A"/>
                </a:solidFill>
                <a:latin typeface="Calibri"/>
              </a:rPr>
              <a:t>Subvaluación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4425696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Aft>
                <a:spcPts val="0"/>
              </a:spcAft>
            </a:pPr>
            <a:r>
              <a:rPr sz="1700" b="1" i="0">
                <a:solidFill>
                  <a:srgbClr val="C2683C"/>
                </a:solidFill>
                <a:latin typeface="Georgia"/>
              </a:rPr>
              <a:t>34.3%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791456"/>
            <a:ext cx="5212080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950" b="0" i="1">
                <a:solidFill>
                  <a:srgbClr val="7A7A7A"/>
                </a:solidFill>
                <a:latin typeface="Calibri"/>
              </a:rPr>
              <a:t>descuento frente al comparable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074920"/>
            <a:ext cx="5212080" cy="12801"/>
          </a:xfrm>
          <a:prstGeom prst="rect">
            <a:avLst/>
          </a:prstGeom>
          <a:solidFill>
            <a:srgbClr val="D8D0C2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148072"/>
            <a:ext cx="2148840" cy="31089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7A7A7A"/>
                </a:solidFill>
                <a:latin typeface="Calibri"/>
              </a:rPr>
              <a:t>Índice de oportunidad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512064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Aft>
                <a:spcPts val="0"/>
              </a:spcAft>
            </a:pPr>
            <a:r>
              <a:rPr sz="1700" b="1" i="0">
                <a:solidFill>
                  <a:srgbClr val="0F1B2D"/>
                </a:solidFill>
                <a:latin typeface="Georgia"/>
              </a:rPr>
              <a:t>77/100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486400"/>
            <a:ext cx="5212080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950" b="0" i="1">
                <a:solidFill>
                  <a:srgbClr val="7A7A7A"/>
                </a:solidFill>
                <a:latin typeface="Calibri"/>
              </a:rPr>
              <a:t>prioriza revisión; no calcula ROI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90488" y="1755648"/>
            <a:ext cx="18288" cy="4343400"/>
          </a:xfrm>
          <a:prstGeom prst="rect">
            <a:avLst/>
          </a:prstGeom>
          <a:solidFill>
            <a:srgbClr val="D8D0C2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171907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2683C"/>
                </a:solidFill>
                <a:latin typeface="Calibri"/>
              </a:rPr>
              <a:t>SEGUNDA OPINIÓN DEL MODELO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0" y="2194560"/>
            <a:ext cx="4800600" cy="12801"/>
          </a:xfrm>
          <a:prstGeom prst="rect">
            <a:avLst/>
          </a:prstGeom>
          <a:solidFill>
            <a:srgbClr val="D8D0C2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2267712"/>
            <a:ext cx="1920240" cy="3840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0F1B2D"/>
                </a:solidFill>
                <a:latin typeface="Calibri"/>
              </a:rPr>
              <a:t>Ridge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9327" y="2240280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Aft>
                <a:spcPts val="0"/>
              </a:spcAft>
            </a:pPr>
            <a:r>
              <a:rPr sz="1800" b="1" i="0">
                <a:solidFill>
                  <a:srgbClr val="0F1B2D"/>
                </a:solidFill>
                <a:latin typeface="Georgia"/>
              </a:rPr>
              <a:t>USD 86,735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42448" y="2267712"/>
            <a:ext cx="914400" cy="3840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Aft>
                <a:spcPts val="0"/>
              </a:spcAft>
            </a:pPr>
            <a:r>
              <a:rPr sz="1300" b="1" i="0">
                <a:solidFill>
                  <a:srgbClr val="C2683C"/>
                </a:solidFill>
                <a:latin typeface="Calibri"/>
              </a:rPr>
              <a:t>+8.4%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0" y="2907791"/>
            <a:ext cx="4800600" cy="12801"/>
          </a:xfrm>
          <a:prstGeom prst="rect">
            <a:avLst/>
          </a:prstGeom>
          <a:solidFill>
            <a:srgbClr val="D8D0C2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2980944"/>
            <a:ext cx="1920240" cy="3840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0F1B2D"/>
                </a:solidFill>
                <a:latin typeface="Calibri"/>
              </a:rPr>
              <a:t>Random Forest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39327" y="2953512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Aft>
                <a:spcPts val="0"/>
              </a:spcAft>
            </a:pPr>
            <a:r>
              <a:rPr sz="1800" b="1" i="0">
                <a:solidFill>
                  <a:srgbClr val="0F1B2D"/>
                </a:solidFill>
                <a:latin typeface="Georgia"/>
              </a:rPr>
              <a:t>USD 87,663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42448" y="2980944"/>
            <a:ext cx="914400" cy="3840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Aft>
                <a:spcPts val="0"/>
              </a:spcAft>
            </a:pPr>
            <a:r>
              <a:rPr sz="1300" b="1" i="0">
                <a:solidFill>
                  <a:srgbClr val="C2683C"/>
                </a:solidFill>
                <a:latin typeface="Calibri"/>
              </a:rPr>
              <a:t>+9.6%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3822191"/>
            <a:ext cx="4754880" cy="9601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3A3A3A"/>
                </a:solidFill>
                <a:latin typeface="Calibri"/>
              </a:rPr>
              <a:t>Ambos modelos estiman un valor superior al publicado. Esa coincidencia justifica investigar el aviso, no comprarlo automáticamente.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0" y="4983480"/>
            <a:ext cx="4800600" cy="12801"/>
          </a:xfrm>
          <a:prstGeom prst="rect">
            <a:avLst/>
          </a:prstGeom>
          <a:solidFill>
            <a:srgbClr val="D8D0C2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0" y="51663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F1B2D"/>
                </a:solidFill>
                <a:latin typeface="Calibri"/>
              </a:rPr>
              <a:t>ANTES DE INVERTIR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5504688"/>
            <a:ext cx="4754880" cy="56692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3A3A3A"/>
                </a:solidFill>
                <a:latin typeface="Calibri"/>
              </a:rPr>
              <a:t>Validar estado real, precio negociado, obra, impuestos, comisiones y plazo de salida.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6144768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950" b="0" i="1">
                <a:solidFill>
                  <a:srgbClr val="7A7A7A"/>
                </a:solidFill>
                <a:latin typeface="Calibri"/>
              </a:rPr>
              <a:t>Caso ilustrativo observado en train; no es validación fuera de muestra.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2683C"/>
                </a:solidFill>
                <a:latin typeface="Calibri"/>
              </a:rPr>
              <a:t>MODELO, RECOMENDACIONES E IMPACTO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9260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7A7A7A"/>
                </a:solidFill>
                <a:latin typeface="Calibri"/>
              </a:rPr>
              <a:t>11 / 12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58368"/>
            <a:ext cx="10911535" cy="12801"/>
          </a:xfrm>
          <a:prstGeom prst="rect">
            <a:avLst/>
          </a:prstGeom>
          <a:solidFill>
            <a:srgbClr val="D8D0C2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95528"/>
            <a:ext cx="10911535" cy="7772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0F1B2D"/>
                </a:solidFill>
                <a:latin typeface="Georgia"/>
              </a:rPr>
              <a:t>La herramienta reduce el universo, pero la decisión sigue requiriendo validación</a:t>
            </a:r>
          </a:p>
        </p:txBody>
      </p:sp>
      <p:pic>
        <p:nvPicPr>
          <p:cNvPr id="6" name="Picture 5" descr="05_importancia_variab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64208"/>
            <a:ext cx="5623560" cy="360594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56832" y="173736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2683C"/>
                </a:solidFill>
                <a:latin typeface="Calibri"/>
              </a:rPr>
              <a:t>RENDIMIENTO EN TEST</a:t>
            </a:r>
          </a:p>
        </p:txBody>
      </p:sp>
      <p:sp>
        <p:nvSpPr>
          <p:cNvPr id="8" name="Rectangle 7"/>
          <p:cNvSpPr/>
          <p:nvPr/>
        </p:nvSpPr>
        <p:spPr>
          <a:xfrm>
            <a:off x="6656832" y="2084831"/>
            <a:ext cx="1417320" cy="393192"/>
          </a:xfrm>
          <a:prstGeom prst="rect">
            <a:avLst/>
          </a:prstGeom>
          <a:solidFill>
            <a:srgbClr val="0F1B2D"/>
          </a:solidFill>
          <a:ln>
            <a:solidFill>
              <a:srgbClr val="0F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02552" y="2167128"/>
            <a:ext cx="132588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Modelo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74152" y="2084831"/>
            <a:ext cx="1143000" cy="393192"/>
          </a:xfrm>
          <a:prstGeom prst="rect">
            <a:avLst/>
          </a:prstGeom>
          <a:solidFill>
            <a:srgbClr val="0F1B2D"/>
          </a:solidFill>
          <a:ln>
            <a:solidFill>
              <a:srgbClr val="0F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19872" y="2167128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MAE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217152" y="2084831"/>
            <a:ext cx="822960" cy="393192"/>
          </a:xfrm>
          <a:prstGeom prst="rect">
            <a:avLst/>
          </a:prstGeom>
          <a:solidFill>
            <a:srgbClr val="0F1B2D"/>
          </a:solidFill>
          <a:ln>
            <a:solidFill>
              <a:srgbClr val="0F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62872" y="2167128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MAPE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40112" y="2084831"/>
            <a:ext cx="594360" cy="393192"/>
          </a:xfrm>
          <a:prstGeom prst="rect">
            <a:avLst/>
          </a:prstGeom>
          <a:solidFill>
            <a:srgbClr val="0F1B2D"/>
          </a:solidFill>
          <a:ln>
            <a:solidFill>
              <a:srgbClr val="0F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85832" y="2167128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R²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56832" y="2487168"/>
            <a:ext cx="1417320" cy="420624"/>
          </a:xfrm>
          <a:prstGeom prst="rect">
            <a:avLst/>
          </a:prstGeom>
          <a:solidFill>
            <a:srgbClr val="F4F1EC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93408" y="2578608"/>
            <a:ext cx="1344168" cy="21031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3A3A3A"/>
                </a:solidFill>
                <a:latin typeface="Calibri"/>
              </a:rPr>
              <a:t>Ridge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74152" y="2487168"/>
            <a:ext cx="1143000" cy="420624"/>
          </a:xfrm>
          <a:prstGeom prst="rect">
            <a:avLst/>
          </a:prstGeom>
          <a:solidFill>
            <a:srgbClr val="F4F1EC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10727" y="2578608"/>
            <a:ext cx="1069848" cy="21031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3A3A3A"/>
                </a:solidFill>
                <a:latin typeface="Calibri"/>
              </a:rPr>
              <a:t>USD 49,138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17152" y="2487168"/>
            <a:ext cx="822960" cy="420624"/>
          </a:xfrm>
          <a:prstGeom prst="rect">
            <a:avLst/>
          </a:prstGeom>
          <a:solidFill>
            <a:srgbClr val="F4F1EC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53728" y="2578608"/>
            <a:ext cx="749808" cy="21031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3A3A3A"/>
                </a:solidFill>
                <a:latin typeface="Calibri"/>
              </a:rPr>
              <a:t>25.0%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040112" y="2487168"/>
            <a:ext cx="594360" cy="420624"/>
          </a:xfrm>
          <a:prstGeom prst="rect">
            <a:avLst/>
          </a:prstGeom>
          <a:solidFill>
            <a:srgbClr val="F4F1EC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76688" y="2578608"/>
            <a:ext cx="521208" cy="21031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3A3A3A"/>
                </a:solidFill>
                <a:latin typeface="Calibri"/>
              </a:rPr>
              <a:t>0.59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56832" y="2926080"/>
            <a:ext cx="1417320" cy="420624"/>
          </a:xfrm>
          <a:prstGeom prst="rect">
            <a:avLst/>
          </a:prstGeom>
          <a:solidFill>
            <a:srgbClr val="EAE0CF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93408" y="3017520"/>
            <a:ext cx="1344168" cy="21031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0F1B2D"/>
                </a:solidFill>
                <a:latin typeface="Calibri"/>
              </a:rPr>
              <a:t>Random Forest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74152" y="2926080"/>
            <a:ext cx="1143000" cy="420624"/>
          </a:xfrm>
          <a:prstGeom prst="rect">
            <a:avLst/>
          </a:prstGeom>
          <a:solidFill>
            <a:srgbClr val="EAE0CF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10727" y="3017520"/>
            <a:ext cx="1069848" cy="21031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0F1B2D"/>
                </a:solidFill>
                <a:latin typeface="Calibri"/>
              </a:rPr>
              <a:t>USD 41,337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217152" y="2926080"/>
            <a:ext cx="822960" cy="420624"/>
          </a:xfrm>
          <a:prstGeom prst="rect">
            <a:avLst/>
          </a:prstGeom>
          <a:solidFill>
            <a:srgbClr val="EAE0CF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53728" y="3017520"/>
            <a:ext cx="749808" cy="21031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0F1B2D"/>
                </a:solidFill>
                <a:latin typeface="Calibri"/>
              </a:rPr>
              <a:t>21.1%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40112" y="2926080"/>
            <a:ext cx="594360" cy="420624"/>
          </a:xfrm>
          <a:prstGeom prst="rect">
            <a:avLst/>
          </a:prstGeom>
          <a:solidFill>
            <a:srgbClr val="EAE0CF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76688" y="3017520"/>
            <a:ext cx="521208" cy="21031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0F1B2D"/>
                </a:solidFill>
                <a:latin typeface="Calibri"/>
              </a:rPr>
              <a:t>0.69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56832" y="3566160"/>
            <a:ext cx="4023360" cy="6583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0F1B2D"/>
                </a:solidFill>
                <a:latin typeface="Georgia"/>
              </a:rPr>
              <a:t>Random Forest reduce el MAE 15,9% y mantiene mejor estabilidad en validación agrupada.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56832" y="4407408"/>
            <a:ext cx="4005072" cy="12801"/>
          </a:xfrm>
          <a:prstGeom prst="rect">
            <a:avLst/>
          </a:prstGeom>
          <a:solidFill>
            <a:srgbClr val="D8D0C2"/>
          </a:solidFill>
          <a:ln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56832" y="459028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2683C"/>
                </a:solidFill>
                <a:latin typeface="Calibri"/>
              </a:rPr>
              <a:t>DECISIONES HABILITADAS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56832" y="4919472"/>
            <a:ext cx="4480560" cy="129844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  <a:defRPr sz="1150">
                <a:solidFill>
                  <a:srgbClr val="3A3A3A"/>
                </a:solidFill>
                <a:latin typeface="Calibri"/>
              </a:defRPr>
            </a:pPr>
            <a:r>
              <a:t>•  Concentrar el monitoreo en zonas con evidencia suficiente</a:t>
            </a:r>
          </a:p>
          <a:p>
            <a:pPr>
              <a:spcAft>
                <a:spcPts val="300"/>
              </a:spcAft>
              <a:defRPr sz="1150">
                <a:solidFill>
                  <a:srgbClr val="3A3A3A"/>
                </a:solidFill>
                <a:latin typeface="Calibri"/>
              </a:defRPr>
            </a:pPr>
            <a:r>
              <a:t>•  Priorizar descuentos defendibles, no scores aislados</a:t>
            </a:r>
          </a:p>
          <a:p>
            <a:pPr>
              <a:spcAft>
                <a:spcPts val="300"/>
              </a:spcAft>
              <a:defRPr sz="1150">
                <a:solidFill>
                  <a:srgbClr val="3A3A3A"/>
                </a:solidFill>
                <a:latin typeface="Calibri"/>
              </a:defRPr>
            </a:pPr>
            <a:r>
              <a:t>•  Usar el modelo como alerta de desalineamiento</a:t>
            </a:r>
          </a:p>
          <a:p>
            <a:pPr>
              <a:spcAft>
                <a:spcPts val="300"/>
              </a:spcAft>
              <a:defRPr sz="1150">
                <a:solidFill>
                  <a:srgbClr val="3A3A3A"/>
                </a:solidFill>
                <a:latin typeface="Calibri"/>
              </a:defRPr>
            </a:pPr>
            <a:r>
              <a:t>•  Cerrar siempre con due diligence financiera, técnica y legal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2683C"/>
                </a:solidFill>
                <a:latin typeface="Calibri"/>
              </a:rPr>
              <a:t>PRÓXIMOS PASOS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9260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C7D2DD"/>
                </a:solidFill>
                <a:latin typeface="Calibri"/>
              </a:rPr>
              <a:t>12 / 12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58368"/>
            <a:ext cx="10911535" cy="12801"/>
          </a:xfrm>
          <a:prstGeom prst="rect">
            <a:avLst/>
          </a:prstGeom>
          <a:solidFill>
            <a:srgbClr val="2A3C52"/>
          </a:solidFill>
          <a:ln>
            <a:solidFill>
              <a:srgbClr val="2A3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95528"/>
            <a:ext cx="10911535" cy="7772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Georgia"/>
              </a:rPr>
              <a:t>El siguiente paso es pasar de priorización a rentabilidad medida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64792"/>
            <a:ext cx="502920" cy="3200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C2683C"/>
                </a:solidFill>
                <a:latin typeface="Georgia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1764792"/>
            <a:ext cx="1234440" cy="31089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Historia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78608" y="1764792"/>
            <a:ext cx="4663440" cy="3840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C7D2DD"/>
                </a:solidFill>
                <a:latin typeface="Calibri"/>
              </a:rPr>
              <a:t>Guardar cambios de precio y días en mercado.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276856"/>
            <a:ext cx="6629400" cy="12801"/>
          </a:xfrm>
          <a:prstGeom prst="rect">
            <a:avLst/>
          </a:prstGeom>
          <a:solidFill>
            <a:srgbClr val="2A3C52"/>
          </a:solidFill>
          <a:ln>
            <a:solidFill>
              <a:srgbClr val="2A3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569464"/>
            <a:ext cx="502920" cy="3200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C2683C"/>
                </a:solidFill>
                <a:latin typeface="Georgia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1872" y="2569464"/>
            <a:ext cx="1234440" cy="31089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Cierre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78608" y="2569464"/>
            <a:ext cx="4663440" cy="3840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C7D2DD"/>
                </a:solidFill>
                <a:latin typeface="Calibri"/>
              </a:rPr>
              <a:t>Incorporar precios negociados y efectivos.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081528"/>
            <a:ext cx="6629400" cy="12801"/>
          </a:xfrm>
          <a:prstGeom prst="rect">
            <a:avLst/>
          </a:prstGeom>
          <a:solidFill>
            <a:srgbClr val="2A3C52"/>
          </a:solidFill>
          <a:ln>
            <a:solidFill>
              <a:srgbClr val="2A3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374136"/>
            <a:ext cx="502920" cy="3200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C2683C"/>
                </a:solidFill>
                <a:latin typeface="Georgia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1872" y="3374136"/>
            <a:ext cx="1234440" cy="31089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Costos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78608" y="3374136"/>
            <a:ext cx="4663440" cy="3840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C7D2DD"/>
                </a:solidFill>
                <a:latin typeface="Calibri"/>
              </a:rPr>
              <a:t>Registrar obra, impuestos, comisiones y financiación.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886200"/>
            <a:ext cx="6629400" cy="12801"/>
          </a:xfrm>
          <a:prstGeom prst="rect">
            <a:avLst/>
          </a:prstGeom>
          <a:solidFill>
            <a:srgbClr val="2A3C52"/>
          </a:solidFill>
          <a:ln>
            <a:solidFill>
              <a:srgbClr val="2A3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178808"/>
            <a:ext cx="502920" cy="3200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C2683C"/>
                </a:solidFill>
                <a:latin typeface="Georgia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61872" y="4178808"/>
            <a:ext cx="1234440" cy="31089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Operación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78608" y="4178808"/>
            <a:ext cx="4663440" cy="3840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C7D2DD"/>
                </a:solidFill>
                <a:latin typeface="Calibri"/>
              </a:rPr>
              <a:t>Automatizar scores, alertas y actualización de Power BI.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690872"/>
            <a:ext cx="6629400" cy="12801"/>
          </a:xfrm>
          <a:prstGeom prst="rect">
            <a:avLst/>
          </a:prstGeom>
          <a:solidFill>
            <a:srgbClr val="2A3C52"/>
          </a:solidFill>
          <a:ln>
            <a:solidFill>
              <a:srgbClr val="2A3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983480"/>
            <a:ext cx="502920" cy="3200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C2683C"/>
                </a:solidFill>
                <a:latin typeface="Georgia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61872" y="4983480"/>
            <a:ext cx="1234440" cy="31089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Aprendizaje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78608" y="4983480"/>
            <a:ext cx="4663440" cy="3840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C7D2DD"/>
                </a:solidFill>
                <a:latin typeface="Calibri"/>
              </a:rPr>
              <a:t>Monitorear resultados y reentrenar el modelo.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1000" y="1783080"/>
            <a:ext cx="18288" cy="2743200"/>
          </a:xfrm>
          <a:prstGeom prst="rect">
            <a:avLst/>
          </a:prstGeom>
          <a:solidFill>
            <a:srgbClr val="C2683C"/>
          </a:solidFill>
          <a:ln>
            <a:solidFill>
              <a:srgbClr val="C26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20" y="1828800"/>
            <a:ext cx="3200400" cy="4754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C2683C"/>
                </a:solidFill>
                <a:latin typeface="Calibri"/>
              </a:rPr>
              <a:t>CUANDO EXISTAN LAS VARIABLES FINANCIERAS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2578608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Georgia"/>
              </a:rPr>
              <a:t>ROI =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3182112"/>
            <a:ext cx="3154680" cy="11430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1600" b="0" i="1">
                <a:solidFill>
                  <a:srgbClr val="C7D2DD"/>
                </a:solidFill>
                <a:latin typeface="Georgia"/>
              </a:rPr>
              <a:t>(venta − compra − obra − gastos)
capital invertido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5596128"/>
            <a:ext cx="10911535" cy="12801"/>
          </a:xfrm>
          <a:prstGeom prst="rect">
            <a:avLst/>
          </a:prstGeom>
          <a:solidFill>
            <a:srgbClr val="2A3C52"/>
          </a:solidFill>
          <a:ln>
            <a:solidFill>
              <a:srgbClr val="2A3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5806440"/>
            <a:ext cx="7040880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FFFFFF"/>
                </a:solidFill>
                <a:latin typeface="Georgia"/>
              </a:rPr>
              <a:t>Hasta entonces, el producto maximiza la calidad de las oportunidades detectadas. No promete retornos.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01000" y="5870448"/>
            <a:ext cx="3429000" cy="3200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C7D2DD"/>
                </a:solidFill>
                <a:latin typeface="Calibri"/>
              </a:rPr>
              <a:t>Precios publicados · Asociaciones no causales · Modelo como segunda opinión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Priorizacion de oportunidades de flip inmobiliario en CABA</dc:title>
  <dc:subject>Presentacion ejecutiva</dc:subject>
  <dc:creator>Felipe Tamaki, Matias Goldschmidt, Lucas Binelo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