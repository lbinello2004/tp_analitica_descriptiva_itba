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powerbi.com/view?r=eyJrIjoiNTQ0NjhkY2UtMjdjMC00YmQ0LWIyNGUtYjMwNzEzMDk0YTQ4IiwidCI6ImExZjUwYTk3LTIxYzAtNDlhNy1hOWQ0LWYyNDRlYmI0MmRhNyIsImMiOjR9" TargetMode="External"/><Relationship Id="rId2" Type="http://schemas.openxmlformats.org/officeDocument/2006/relationships/hyperlink" Target="https://app.powerbi.com/view?r=eyJrIjoiNTQ0NjhkY2UtMjdjMC00YmQ0LWIyNGUtYjMwNzEzMDk0YTQ4IiwidCI6ImExZjUwYTk3LTIxYzAtNDlhNy1hOWQ0LWYyNDRlYmI0MmRhNyIsImMiOjR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tamaki\Documents\GitHub\TP_Analitica_Descriptiva_ITBA\presentacion\assets\06_mapa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095" y="779175"/>
            <a:ext cx="5760720" cy="5299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OPORTUNIDADES INMOBILIARIAS · CABA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412480" y="548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ITBA · 2025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77240" y="896112"/>
            <a:ext cx="10637215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" y="182880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Priorización de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 de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 inmobiliario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herramienta de decisión en tres niveles — barrio, propiedad y validación — para concentrar la búsqueda donde hay evidencia.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5532120"/>
            <a:ext cx="2743200" cy="12802"/>
          </a:xfrm>
          <a:prstGeom prst="rect">
            <a:avLst/>
          </a:prstGeom>
          <a:solidFill>
            <a:srgbClr val="C2683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669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Tamaki · 66477      Matías Goldschmidt · 66061      Lucas Binelo · 66011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Descriptiva — Presentación ejecutiva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OPORTUNIDAD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del flipper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Comprar, mejorar y revender un departamento exige elegir bien antes de invertir. Pero el mercado de CABA es enorme, heterogéneo y difícil de comparar: miles de publicaciones, 48 barrios con dinámicas distintas y atributos que no se comparan entre sí.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esa selección se hace a ojo —scrolleando Argenprop o por intuición—. El inversor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flipper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un equipo de research, pierde tiempo en avisos sin evidencia y decide sobre cientos de miles de dólares con información dispersa.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12.518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626096" y="2496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de departamentos relevadas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2990088"/>
            <a:ext cx="393192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3154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626096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con precios y dinámicas distintas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4361688"/>
            <a:ext cx="393192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4526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100k+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626096" y="5239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típica por operación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1810512"/>
            <a:ext cx="12802" cy="3840480"/>
          </a:xfrm>
          <a:prstGeom prst="rect">
            <a:avLst/>
          </a:prstGeom>
          <a:solidFill>
            <a:srgbClr val="C2683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ANÁLISIS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buscamos responder?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puede un inversor </a:t>
            </a:r>
            <a:pPr indent="0" marL="0">
              <a:lnSpc>
                <a:spcPct val="112000"/>
              </a:lnSpc>
              <a:buNone/>
            </a:pPr>
            <a:r>
              <a:rPr lang="en-US" sz="2500" b="1" i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concentrar su búsqueda</a:t>
            </a:r>
            <a:pPr indent="0" marL="0">
              <a:lnSpc>
                <a:spcPct val="112000"/>
              </a:lnSpc>
              <a:buNone/>
            </a:pPr>
            <a:r>
              <a:rPr lang="en-US" sz="25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los barrios y propiedades con mejores señales de descuento, puesta en valor y salida comercial?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419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concentrar la búsqueda: zonas con precio de entrada, profundidad de comparables y descuento relativo favorables.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5676" y="3657600"/>
            <a:ext cx="12802" cy="210312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71416" y="420624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Propiedad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71416" y="4754880"/>
            <a:ext cx="3419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avisos investigar primero: cada unidad comparada contra inmuebles equivalentes de su mismo barrio.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7012" y="3657600"/>
            <a:ext cx="12802" cy="210312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02752" y="420624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02752" y="4754880"/>
            <a:ext cx="3419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score a la decisión: qué confirmar —precio de cierre, estado real, obra y costos— antes de comprometer capital.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DATOS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12.518 avisos crudos a 7.245 comparables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2459736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12.518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98424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2160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Argenprop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42616" y="25603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80360" y="2148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62072" y="2459736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12.518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880360" y="32461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3611880"/>
            <a:ext cx="198424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372160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y control CABA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82896" y="25603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2148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2459736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7.991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611880"/>
            <a:ext cx="198424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72160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territoriales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23176" y="25603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60920" y="2148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42632" y="2459736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7.245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360920" y="32461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3611880"/>
            <a:ext cx="198424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72160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Tipos, outliers e imputación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63456" y="25603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01200" y="2148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+ ÍNDICES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582912" y="2459736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7.245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9601200" y="32461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1200" y="3611880"/>
            <a:ext cx="1984248" cy="12802"/>
          </a:xfrm>
          <a:prstGeom prst="rect">
            <a:avLst/>
          </a:prstGeom>
          <a:solidFill>
            <a:srgbClr val="C2683C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372160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e índices PCA/MCA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44622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de filas son avisos fuera de CABA o sin geocodificar (→ 7.991) y registros sin superficie válida u outliers de precio (→ 7.245).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102352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Argenprop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5596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de venta en CABA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114800" y="5285232"/>
            <a:ext cx="12802" cy="77724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GCBA Datos Abiertos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97680" y="5596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Barrios, subte, hospitales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772400" y="5285232"/>
            <a:ext cx="12802" cy="77724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44" name="Text 42"/>
          <p:cNvSpPr/>
          <p:nvPr/>
        </p:nvSpPr>
        <p:spPr>
          <a:xfrm>
            <a:off x="79552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Overpass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955280" y="5596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urbanos y geocodificación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 · TERRITORIO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barrio es el primer filtro de precio</a:t>
            </a:r>
            <a:endParaRPr lang="en-US" sz="3100" dirty="0"/>
          </a:p>
        </p:txBody>
      </p:sp>
      <p:pic>
        <p:nvPicPr>
          <p:cNvPr id="6" name="Image 0" descr="C:\Users\ftamaki\Documents\GitHub\TP_Analitica_Descriptiva_ITBA\presentacion\assets\01_mapa_precio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120640" cy="40224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75985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por m² publicado · cada punto es un aviso geolocalizado</a:t>
            </a:r>
            <a:endParaRPr lang="en-US" sz="1000" dirty="0"/>
          </a:p>
        </p:txBody>
      </p:sp>
      <p:pic>
        <p:nvPicPr>
          <p:cNvPr id="8" name="Image 1" descr="C:\Users\ftamaki\Documents\GitHub\TP_Analitica_Descriptiva_ITBA\presentacion\assets\02_precio_m2_bar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03520" cy="3590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54864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Madero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 con una mediana de ~USD 4.800/m². La diferencia de precio entre barrios es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(ε² = 0,305)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la accesibilidad los separa con aún más nitidez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(ε² = 0,574)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aunque más acceso no implica mayor precio.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 · OPORTUNIDAD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oportunidades no están donde está el dinero</a:t>
            </a:r>
            <a:endParaRPr lang="en-US" sz="3100" dirty="0"/>
          </a:p>
        </p:txBody>
      </p:sp>
      <p:pic>
        <p:nvPicPr>
          <p:cNvPr id="6" name="Image 0" descr="C:\Users\ftamaki\Documents\GitHub\TP_Analitica_Descriptiva_ITBA\presentacion\assets\03_descuento_mejor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608472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51472" y="187452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barrios premium concentran el precio; los descuentos y el stock mejorable, no.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751472" y="3090672"/>
            <a:ext cx="486140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9" name="Text 6"/>
          <p:cNvSpPr/>
          <p:nvPr/>
        </p:nvSpPr>
        <p:spPr>
          <a:xfrm>
            <a:off x="6751472" y="3200400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Lugano.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en avisos con descuento fuerte (≥15% vs. comparables).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51472" y="4050792"/>
            <a:ext cx="486140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1" name="Text 8"/>
          <p:cNvSpPr/>
          <p:nvPr/>
        </p:nvSpPr>
        <p:spPr>
          <a:xfrm>
            <a:off x="6751472" y="4160520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Boca.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27,8% de stock clasificado como mejorable — el mayor de CABA.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51472" y="5010912"/>
            <a:ext cx="4861408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3" name="Text 10"/>
          <p:cNvSpPr/>
          <p:nvPr/>
        </p:nvSpPr>
        <p:spPr>
          <a:xfrm>
            <a:off x="6751472" y="5120640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real, pero débil.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concentración del descuento es significativa con efecto bajo (Cramer's V = 0,093).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 · CAUTELA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Mejorar suma, pero no siempre se recupera</a:t>
            </a:r>
            <a:endParaRPr lang="en-US" sz="3100" dirty="0"/>
          </a:p>
        </p:txBody>
      </p:sp>
      <p:pic>
        <p:nvPicPr>
          <p:cNvPr id="6" name="Image 0" descr="C:\Users\ftamaki\Documents\GitHub\TP_Analitica_Descriptiva_ITBA\presentacion\assets\04_amenities_pre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212080" cy="3886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965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promedio de amenities sube de 2,40 en el rango de precio bajo a 3,98 en el alto.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0" y="3429000"/>
            <a:ext cx="5212080" cy="12802"/>
          </a:xfrm>
          <a:prstGeom prst="rect">
            <a:avLst/>
          </a:prstGeom>
          <a:solidFill>
            <a:srgbClr val="C2683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3566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0,192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0" y="43708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positiva pero baja entre amenities y precio por m².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4846320"/>
            <a:ext cx="521208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4983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por amenities cambia según el barrio: no toda mejora recupera su costo ni vale lo mismo comercialmente.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embudo de decisión, no una lista de avisos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Barrio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ZONAS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320040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territorial con precio de entrada, profundidad de mercado, accesibilidad y descuento relativo.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Palermo · Recoleta · Belgrano · Colegiales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61104" y="1920240"/>
            <a:ext cx="12802" cy="402336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3" name="Text 11"/>
          <p:cNvSpPr/>
          <p:nvPr/>
        </p:nvSpPr>
        <p:spPr>
          <a:xfrm>
            <a:off x="4096512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5312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53128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Propiedad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453128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AVISOS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3364992"/>
            <a:ext cx="320040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8" name="Text 16"/>
          <p:cNvSpPr/>
          <p:nvPr/>
        </p:nvSpPr>
        <p:spPr>
          <a:xfrm>
            <a:off x="4453128" y="3520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oportunidad que compara cada aviso con la mediana de su barrio, tipo y ambientes.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53128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descuento · 20% accesibilidad · 15% zona · 15% estado · 10% mercado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74152" y="1920240"/>
            <a:ext cx="12802" cy="402336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66176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66176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8266176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 EL RIESGO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66176" y="3364992"/>
            <a:ext cx="320040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3520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verificaciones financieras, técnicas y legales necesarias antes de comprometer capital.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66176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cierre · obra · gastos · impuestos · plazo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EMBUDO EN ACCIÓN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oportunidad priorizada, con su evidencia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PRIORIZADA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Belgrano · Vuelta de Obligado 2600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" y="25237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· 2 ambientes · 45 m² · estado a refaccionar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21208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publicado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80.000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3483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1.778 / m²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21208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del barrio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2.706 / m²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43068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38 avisos equivalentes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521208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Subvaluación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3464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34,3%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" y="5129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42.000 bajo la línea de comparables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de oportunidad  </a:t>
            </a:r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/ 100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1755648"/>
            <a:ext cx="12802" cy="4206240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OPINIÓN DEL MODELO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estimado a partir de los atributos de la unidad (ubicación, superficie, estado, servicios):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2688336"/>
            <a:ext cx="493776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039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USD 86.700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60704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3255264"/>
            <a:ext cx="493776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310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503920" y="3310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USD 87.700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07040" y="33101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estiman la propiedad por encima de su precio publicado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una segunda señal, independiente del comparable, de que está subvaluada.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0" y="4983480"/>
            <a:ext cx="493776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5102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INVERTIR — VALIDAR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7512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cierre y estado real · presupuesto de obra y plazo de reventa · gastos, impuestos y comisiones.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(OPCIONAL)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segunda opinión sobre cada precio</a:t>
            </a:r>
            <a:endParaRPr lang="en-US" sz="3100" dirty="0"/>
          </a:p>
        </p:txBody>
      </p:sp>
      <p:pic>
        <p:nvPicPr>
          <p:cNvPr id="6" name="Image 0" descr="C:\Users\ftamaki\Documents\GitHub\TP_Analitica_Descriptiva_ITBA\presentacion\assets\05_modelo_m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4480560" cy="3384109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03120"/>
          <a:ext cx="5897880" cy="914400"/>
        </p:xfrm>
        <a:graphic>
          <a:graphicData uri="http://schemas.openxmlformats.org/drawingml/2006/table">
            <a:tbl>
              <a:tblPr/>
              <a:tblGrid>
                <a:gridCol w="2005279"/>
                <a:gridCol w="1533449"/>
                <a:gridCol w="1179576"/>
                <a:gridCol w="117957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Ridge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USD 49.138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25,0%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0,59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USD 41.337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21,1%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0,69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60720" y="3931920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reduce el error 15,9% frente a Ridge</a:t>
            </a:r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mantiene estable en validación agrupada (R² = 0,74).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760720" y="5074920"/>
            <a:ext cx="5897880" cy="12802"/>
          </a:xfrm>
          <a:prstGeom prst="rect">
            <a:avLst/>
          </a:prstGeom>
          <a:solidFill>
            <a:srgbClr val="D8D0C2"/>
          </a:solidFill>
          <a:ln/>
        </p:spPr>
      </p:sp>
      <p:sp>
        <p:nvSpPr>
          <p:cNvPr id="10" name="Text 6"/>
          <p:cNvSpPr/>
          <p:nvPr/>
        </p:nvSpPr>
        <p:spPr>
          <a:xfrm>
            <a:off x="5760720" y="5212080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7A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usa como detector de desalineamiento de precio, no como tasación ni precio esperado de reventa.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Concentrar el esfuerzo donde hay evidencia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8653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Palermo, Recoleta, Belgrano y Colegiales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 el índice integrado por profundidad de comparables, deal flow y accesibilidad.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27797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descuento defendible y estado mejorable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subvaluación frente a comparables con potencial real de puesta en valor.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84448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36941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comparables uno a uno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equivalencia en micro-ubicación, calidad y estado antes de decidir.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498848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72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46085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las mejoras al barrio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por amenities varía territorialmente; no toda obra se recupera.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413248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486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55229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 due diligence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negociado, obra, gastos, impuestos y plazo de salida antes de invertir.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83880" y="1828800"/>
            <a:ext cx="12802" cy="4069080"/>
          </a:xfrm>
          <a:prstGeom prst="rect">
            <a:avLst/>
          </a:prstGeom>
          <a:solidFill>
            <a:srgbClr val="C268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3.104 elegibles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2761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~7.245 avisos, con descuento y ≥5 comparables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0" y="3291840"/>
            <a:ext cx="329184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 barrios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comparados con criterios consistentes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0" y="4370832"/>
            <a:ext cx="329184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5354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Trazabilidad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12480" y="4919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oportunidad documentada y auditable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Y LÍNEAS FUTURAS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362895" y="310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658368"/>
            <a:ext cx="10911535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prototipo a producto monitoreado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precios de cierre y negociación, no solo publicados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24414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presupuestos y costos reales de obra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08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300837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recálculo de scores y alertas de nuevas oportunidades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753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357530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dashboard vía dataset programado en Power BI Service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032504"/>
            <a:ext cx="6675120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42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41422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error del modelo y reentrenar periódicamente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183880" y="1874520"/>
            <a:ext cx="12802" cy="1691640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50" kern="0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EXISTAN LAS VARIABLES FINANCIERAS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2480" y="2423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= (venta − compra − obra − gastos) / capital invertido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911535" cy="12802"/>
          </a:xfrm>
          <a:prstGeom prst="rect">
            <a:avLst/>
          </a:prstGeom>
          <a:solidFill>
            <a:srgbClr val="2A3C5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1206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Mientras tanto, el producto maximiza la calidad de las oportunidades detectadas — no promete retornos.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5166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b="1" u="sng" dirty="0">
                <a:solidFill>
                  <a:srgbClr val="C268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interactivo en vivo →</a:t>
            </a:r>
            <a:endParaRPr lang="en-US" sz="13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100" u="sng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Service · click para abrir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Priorizacion de oportunidades de flip inmobiliario en CABA</dc:title>
  <dc:subject>PptxGenJS Presentation</dc:subject>
  <dc:creator>Tamaki, Goldschmidt, Binelo</dc:creator>
  <cp:lastModifiedBy>Tamaki, Goldschmidt, Binelo</cp:lastModifiedBy>
  <cp:revision>1</cp:revision>
  <dcterms:created xsi:type="dcterms:W3CDTF">2026-06-14T23:16:02Z</dcterms:created>
  <dcterms:modified xsi:type="dcterms:W3CDTF">2026-06-14T23:16:02Z</dcterms:modified>
</cp:coreProperties>
</file>