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mapa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6310881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83C"/>
                </a:solidFill>
                <a:latin typeface="Calibri"/>
              </a:rPr>
              <a:t>ANÁLISIS DE OPORTUNIDADES INMOBILIARIAS · CABA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5303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C7D2DD"/>
                </a:solidFill>
                <a:latin typeface="Calibri"/>
              </a:rPr>
              <a:t>ITBA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86968"/>
            <a:ext cx="1065276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5852160" cy="2331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Priorización de
oportunidades de
flip inmobiliario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5196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7D2DD"/>
                </a:solidFill>
                <a:latin typeface="Calibri"/>
              </a:rPr>
              <a:t>Una herramienta para decidir dónde buscar, qué propiedades investigar y qué validar antes de invertir.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440680"/>
            <a:ext cx="2743200" cy="12801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Felipe Tamaki · 66477   |   Matías Goldschmidt · 66061   |   Lucas Binelo · 66011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7D2DD"/>
                </a:solidFill>
                <a:latin typeface="Calibri"/>
              </a:rPr>
              <a:t>Analítica Descriptiva · Presentación ejecutiva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CONTEXTO Y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Miles de avisos, pero poca evidencia para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F1B2D"/>
                </a:solidFill>
                <a:latin typeface="Georgia"/>
              </a:rPr>
              <a:t>El desafío no es encontrar avisos, sino compararlos antes de comprometer capital.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44368"/>
            <a:ext cx="5623560" cy="1600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La información es heterogénea y las señales sobre precio, estado y entorno están dispersas. Sin un proceso analítico, la selección depende demasiado de intuición y tiempo de búsqueda.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12.518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6096" y="23957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avisos relevados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944368"/>
            <a:ext cx="397763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3090672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37490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barrios con dinámicas distintas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297679"/>
            <a:ext cx="397763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443983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USD 100k+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5102351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capital típico comprometido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2631" y="1783080"/>
            <a:ext cx="18288" cy="3886200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MODELO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El resultado de un flip se define antes de empezar la obra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Comprar bien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Entrar por debajo de propiedades comparables.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154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82880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359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Mejorar con criterio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2926080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313639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Invertir solo en cambios que el mercado del barrio valore.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3154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182880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359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Revender con margen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2926080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313639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Salir en un mercado con demanda y referencias suficientes.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90288"/>
            <a:ext cx="10911535" cy="98755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Margen potencial  =  venta esperada  −  compra negociada  −  obra  −  gastos  −  tiempo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7044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Calibri"/>
              </a:rPr>
              <a:t>Nuestro análisis mejora la selección de compra. Todavía no calcula rentabilidad porque faltan precios de cierre y costos reales.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DATOS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Integramos publicaciones con información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ARGENPROP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Publicaciones de departamentos en venta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Precio, superficie, ambientes, estado y amenities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063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GCBA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Datos abiertos de la Ciudad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Barrios, comunas, subte, hospitales y contexto urbano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3063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OPENSTREETMAP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Servicios y geocodificación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Colegios, supermercados, avenidas y transporte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5780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0F1B2D"/>
                </a:solidFill>
                <a:latin typeface="Georgia"/>
              </a:rPr>
              <a:t>Cada fila representa una publicación. El análisis trabaja con precios publicados, no con precios efectivos de cierre.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QUÉ BUSCAMOS 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Cuatro señales para decidir qué avisos merecen una revisión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Precio de entrada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¿Publica por debajo de inmuebles del mismo barrio, tipo y ambientes?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Margen de mejora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¿El estado permite una puesta en valor sin ocultar un problema estructural?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Mercado de salida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¿Hay oferta suficiente para construir comparables y entender la zona?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Segunda opinión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2944368"/>
            <a:ext cx="24871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182112"/>
            <a:ext cx="248716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¿El modelo también detecta que el precio parece desalineado?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7492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00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12.518 avisos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53766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534009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7.245 propiedades comparables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766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534009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3.129 casos para investigar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70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7A7A7A"/>
                </a:solidFill>
                <a:latin typeface="Calibri"/>
              </a:rPr>
              <a:t>Geocodificación, enriquecimiento y limpieza permiten comparar; el ranking reduce el universo.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Transformamos datos en un proceso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Explorar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Entender precios, oferta y diferencias territoriales.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Comparar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Construir referencias entre inmuebles equivalentes.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Priorizar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Ordenar barrios y propiedades con señales explicables.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Contrastar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Usar el modelo como segunda opinión de precio.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Validar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Completar la due diligence antes de invertir.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6636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766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0F1B2D"/>
                </a:solidFill>
                <a:latin typeface="Georgia"/>
              </a:rPr>
              <a:t>Resultado: un embudo barrio → propiedad → validación. Reduce el universo; no automatiza la 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INSIGHT 1 · UBICACIÓN Y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F1B2D"/>
                </a:solidFill>
                <a:latin typeface="Georgia"/>
              </a:rPr>
              <a:t>El barrio fija el punto de entrada; los amenities agregan valor, pero no alcanzan solos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DÓNDE ESTÁ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9222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Precio publicado por barrio</a:t>
            </a:r>
          </a:p>
        </p:txBody>
      </p:sp>
      <p:pic>
        <p:nvPicPr>
          <p:cNvPr id="8" name="Picture 7" descr="02_precio_m2_barrio_compa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39696"/>
            <a:ext cx="4617720" cy="30464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51790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QUÉ OFRECE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92224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Amenities y precio por m²</a:t>
            </a:r>
          </a:p>
        </p:txBody>
      </p:sp>
      <p:pic>
        <p:nvPicPr>
          <p:cNvPr id="11" name="Picture 10" descr="07_amenities_precio_compa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139696"/>
            <a:ext cx="3977639" cy="306297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285232"/>
            <a:ext cx="5349240" cy="932688"/>
          </a:xfrm>
          <a:prstGeom prst="rect">
            <a:avLst/>
          </a:prstGeom>
          <a:solidFill>
            <a:srgbClr val="ECE8E2"/>
          </a:solidFill>
          <a:ln>
            <a:solidFill>
              <a:srgbClr val="EC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4315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Georgia"/>
              </a:rPr>
              <a:t>Ubicación: señal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751576"/>
            <a:ext cx="4773168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Belgrano publica una mediana de USD 2.726/m², frente a USD 2.160/m² en el conjunto. El barrio muestra un efecto relevante sobre el precio.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5285232"/>
            <a:ext cx="5257800" cy="932688"/>
          </a:xfrm>
          <a:prstGeom prst="rect">
            <a:avLst/>
          </a:prstGeom>
          <a:solidFill>
            <a:srgbClr val="ECE8E2"/>
          </a:solidFill>
          <a:ln>
            <a:solidFill>
              <a:srgbClr val="EC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543153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B2D"/>
                </a:solidFill>
                <a:latin typeface="Georgia"/>
              </a:rPr>
              <a:t>Amenities: complemento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733288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La dotación alta se asocia con USD 392/m² adicionales, pero la relación es baja (rho = 0,19). No toda mejora recupera su costo.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INSIGHT 2 · SEGMENTACIÓN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F1B2D"/>
                </a:solidFill>
                <a:latin typeface="Georgia"/>
              </a:rPr>
              <a:t>CABA no es un único mercado: identificamos seis perfiles con lógicas distintas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SIMPLIFICAR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92224"/>
            <a:ext cx="51663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Tres lentes resumen muchas variables</a:t>
            </a:r>
          </a:p>
        </p:txBody>
      </p:sp>
      <p:pic>
        <p:nvPicPr>
          <p:cNvPr id="8" name="Picture 7" descr="08_pca_lentes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76272"/>
            <a:ext cx="4297680" cy="3217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16752" y="1517904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SEGMENTAR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1792224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Seis perfiles de mercado</a:t>
            </a:r>
          </a:p>
        </p:txBody>
      </p:sp>
      <p:pic>
        <p:nvPicPr>
          <p:cNvPr id="11" name="Picture 10" descr="09_clusters_per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76272"/>
            <a:ext cx="4663440" cy="27742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285232"/>
            <a:ext cx="5074920" cy="932688"/>
          </a:xfrm>
          <a:prstGeom prst="rect">
            <a:avLst/>
          </a:prstGeom>
          <a:solidFill>
            <a:srgbClr val="ECE8E2"/>
          </a:solidFill>
          <a:ln>
            <a:solidFill>
              <a:srgbClr val="EC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4315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Georgia"/>
              </a:rPr>
              <a:t>Qué aporta el PCA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751576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Convierte variables dispersas en indicadores comparables de amplitud, entorno urbano y confort. Facilita leer cada propiedad sin revisar decenas de columnas.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5285232"/>
            <a:ext cx="5495544" cy="932688"/>
          </a:xfrm>
          <a:prstGeom prst="rect">
            <a:avLst/>
          </a:prstGeom>
          <a:solidFill>
            <a:srgbClr val="ECE8E2"/>
          </a:solidFill>
          <a:ln>
            <a:solidFill>
              <a:srgbClr val="EC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54315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Georgia"/>
              </a:rPr>
              <a:t>Decisión para el flipper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5751576"/>
            <a:ext cx="4800600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Belgrano, Recoleta y Retiro forman el perfil de alto valor por m². Los comparables y las mejoras deben evaluarse dentro de ese mercado, no contra toda CABA.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PASO 3 · CÓMO CONTRASTAR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Georgia"/>
              </a:rPr>
              <a:t>El modelo aporta una segunda opinión sobre el precio</a:t>
            </a:r>
          </a:p>
        </p:txBody>
      </p:sp>
      <p:pic>
        <p:nvPicPr>
          <p:cNvPr id="6" name="Picture 5" descr="04_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6537960" cy="4192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07808" y="18470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2683C"/>
                </a:solidFill>
                <a:latin typeface="Georgia"/>
              </a:rPr>
              <a:t>¿Qué mira el modelo?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87168"/>
            <a:ext cx="3429000" cy="2148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Superficie total y cubierta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Expensas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Ubicación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Baños y antigüedad</a:t>
            </a:r>
          </a:p>
          <a:p>
            <a:pPr>
              <a:spcAft>
                <a:spcPts val="700"/>
              </a:spcAft>
              <a:defRPr sz="1350">
                <a:solidFill>
                  <a:srgbClr val="3A3A3A"/>
                </a:solidFill>
                <a:latin typeface="Calibri"/>
              </a:defRPr>
            </a:pPr>
            <a:r>
              <a:t>•  Estado y amenities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7808" y="4791456"/>
            <a:ext cx="34290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7808" y="5010912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Georgia"/>
              </a:rPr>
              <a:t>No estima el precio de reventa.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468112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7A7A7A"/>
                </a:solidFill>
                <a:latin typeface="Calibri"/>
              </a:rPr>
              <a:t>Sirve para detectar avisos cuyo precio publicado merece una revisión adicional.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LOS TRES PASOS EN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B2D"/>
                </a:solidFill>
                <a:latin typeface="Georgia"/>
              </a:rPr>
              <a:t>Belgrano: una propiedad que reúne las señales para investigar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83C"/>
                </a:solidFill>
                <a:latin typeface="Calibri"/>
              </a:rPr>
              <a:t>1 · PERFIL: ALTO VALOR/M²   2 · DESCUENTO + MEJORA   3 · SEGUNDA OPINIÓN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Belgrano · Vuelta de Obligado 2600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Departamento · 2 ambientes · 45 m² · a refaccionar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90088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Precio publicado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3580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USD 80,000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USD 1,778/m²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85032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58184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Comparable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3075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USD 2,706/m²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38 avisos equivalentes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9976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53128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Subvaluación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2569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34.3%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91456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descuento frente al comparable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4807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Índice de oportunidad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77/100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prioriza revisión; no calcula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1755648"/>
            <a:ext cx="18288" cy="4343400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719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SEGUNDA OPINIÓN DEL MODELO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194560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26771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2402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USD 86,735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2448" y="2267712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C2683C"/>
                </a:solidFill>
                <a:latin typeface="Calibri"/>
              </a:rPr>
              <a:t>+8.4%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907791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98094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Random Forest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9535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USD 87,663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2448" y="2980944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C2683C"/>
                </a:solidFill>
                <a:latin typeface="Calibri"/>
              </a:rPr>
              <a:t>+9.6%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22191"/>
            <a:ext cx="4754880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Calibri"/>
              </a:rPr>
              <a:t>Ambos modelos estiman un valor superior al publicado. Esa coincidencia justifica investigar el aviso, no comprarlo automáticamente.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983480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F1B2D"/>
                </a:solidFill>
                <a:latin typeface="Calibri"/>
              </a:rPr>
              <a:t>ANTES DE INVERTIR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50468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Validar estado real, precio negociado, obra, impuestos, comisiones y plazo de salida.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61447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Caso ilustrativo observado en train; no es validación fuera de muestra.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IMPACTO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B2D"/>
                </a:solidFill>
                <a:latin typeface="Georgia"/>
              </a:rPr>
              <a:t>La herramienta concentra el esfuerzo donde hay más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Georgia"/>
              </a:rPr>
              <a:t>7.245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propiedades comparables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9339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1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2683C"/>
                </a:solidFill>
                <a:latin typeface="Georgia"/>
              </a:rPr>
              <a:t>3.129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146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casos elegibles para investigar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18688"/>
            <a:ext cx="49834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B2D"/>
                </a:solidFill>
                <a:latin typeface="Georgia"/>
              </a:rPr>
              <a:t>Qué mejora para el 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4983480" cy="1691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Menos avisos revisados sin evidencia</a:t>
            </a:r>
          </a:p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Comparables construidos con reglas consistentes</a:t>
            </a:r>
          </a:p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Oportunidades ordenadas y explicables</a:t>
            </a:r>
          </a:p>
          <a:p>
            <a:pPr>
              <a:spcAft>
                <a:spcPts val="5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Validaciones pendientes visibles antes de invertir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1737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MODELO COMO CONTROL ADICIONAL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56832" y="2084831"/>
            <a:ext cx="141732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216712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2084831"/>
            <a:ext cx="114300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216712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2084831"/>
            <a:ext cx="82296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167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0112" y="2084831"/>
            <a:ext cx="59436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1671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6832" y="2487168"/>
            <a:ext cx="141732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578608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Ridge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2487168"/>
            <a:ext cx="114300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2578608"/>
            <a:ext cx="106984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USD 49,138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17152" y="2487168"/>
            <a:ext cx="82296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2578608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25.0%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40112" y="2487168"/>
            <a:ext cx="59436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2578608"/>
            <a:ext cx="5212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0.59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6832" y="2926080"/>
            <a:ext cx="141732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3017520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Random Forest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74152" y="2926080"/>
            <a:ext cx="114300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7" y="3017520"/>
            <a:ext cx="106984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USD 41,337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7152" y="2926080"/>
            <a:ext cx="82296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017520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21.1%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40112" y="2926080"/>
            <a:ext cx="59436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3017520"/>
            <a:ext cx="5212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0.69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3566160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Georgia"/>
              </a:rPr>
              <a:t>Random Forest reduce el MAE 15,9% y mantiene mejor estabilidad en validación agrupada.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6832" y="4407408"/>
            <a:ext cx="4005072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45902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REGLAS PARA USARLO BIEN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4919472"/>
            <a:ext cx="4480560" cy="12984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Concentrar el monitoreo en zonas con evidencia suficiente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Priorizar descuentos defendibles, no scores aislados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Usar el modelo como alerta de desalineamiento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Cerrar siempre con due diligence financiera, técnica y legal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C7D2DD"/>
                </a:solidFill>
                <a:latin typeface="Calibri"/>
              </a:rPr>
              <a:t>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El siguiente paso es pasar de priorización a rentabilidad medida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764792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Historia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17647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Guardar cambios de precio y días en mercado.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76856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946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569464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56946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Incorporar precios negociados y efectivos.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81528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7413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374136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37413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Registrar obra, impuestos, comisiones y financiación.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17880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417880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Automatizar scores, alertas y actualización de Power BI.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90872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983480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Aprendizaje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9834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Monitorear resultados y reentrenar el modelo.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783080"/>
            <a:ext cx="18288" cy="2743200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28800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83C"/>
                </a:solidFill>
                <a:latin typeface="Calibri"/>
              </a:rPr>
              <a:t>CUANDO EXISTAN LAS VARIABLES FINANCIERAS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7860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ROI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182112"/>
            <a:ext cx="315468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C7D2DD"/>
                </a:solidFill>
                <a:latin typeface="Georgia"/>
              </a:rPr>
              <a:t>(venta − compra − obra − gastos)
capital invertido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96128"/>
            <a:ext cx="10911535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Georgia"/>
              </a:rPr>
              <a:t>Hasta entonces, el producto maximiza la calidad de las oportunidades detectadas. No promete retornos.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87044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7D2DD"/>
                </a:solidFill>
                <a:latin typeface="Calibri"/>
              </a:rPr>
              <a:t>Precios publicados · Asociaciones no causales · Modelo como segunda opinión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Priorizacion de oportunidades de flip inmobiliario en CABA</dc:title>
  <dc:subject>Presentacion ejecutiva</dc:subject>
  <dc:creator>Felipe Tamaki, Matias Goldschmidt, Lucas Binelo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